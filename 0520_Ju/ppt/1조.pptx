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2" r:id="rId5"/>
  </p:sldMasterIdLst>
  <p:notesMasterIdLst>
    <p:notesMasterId r:id="rId14"/>
  </p:notesMasterIdLst>
  <p:sldIdLst>
    <p:sldId id="336" r:id="rId6"/>
    <p:sldId id="258" r:id="rId7"/>
    <p:sldId id="362" r:id="rId8"/>
    <p:sldId id="365" r:id="rId9"/>
    <p:sldId id="366" r:id="rId10"/>
    <p:sldId id="368" r:id="rId11"/>
    <p:sldId id="369" r:id="rId12"/>
    <p:sldId id="3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444"/>
    <a:srgbClr val="C3DAA4"/>
    <a:srgbClr val="66D096"/>
    <a:srgbClr val="FFFFFF"/>
    <a:srgbClr val="F2C558"/>
    <a:srgbClr val="D95319"/>
    <a:srgbClr val="6CFF6C"/>
    <a:srgbClr val="00FF00"/>
    <a:srgbClr val="555054"/>
    <a:srgbClr val="FF9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776" autoAdjust="0"/>
  </p:normalViewPr>
  <p:slideViewPr>
    <p:cSldViewPr snapToGrid="0">
      <p:cViewPr>
        <p:scale>
          <a:sx n="125" d="100"/>
          <a:sy n="125" d="100"/>
        </p:scale>
        <p:origin x="648" y="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10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4BCEA-3FF4-4CB2-B00C-F3A2A72C868C}" type="datetimeFigureOut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9E238-56E2-498F-AF52-A01BE2759D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1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338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5AFB-9CDE-E1BD-684A-E414795D2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37B2BF-A42A-E135-34D3-33C22F616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C1BE4F-92F7-354A-8CA8-A4594F718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839C02-D67D-4217-1F64-BD2685CD2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54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A60C0-FBA6-20F8-001D-68CBFF32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BD10E0-5DCF-E742-B664-CA75BE268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073E74-39D4-3AB4-E429-A41DED37C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015B9-B567-5556-16AC-9D530B727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23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97F0-A9F3-28A1-DE3D-171E08F9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1FAE3A-C6FF-8567-CDDD-C353F8165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0AF6E3-F966-67B1-B710-7D5F1F5D6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F4F99F-00D0-90C1-D78C-EFEEB6941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937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ACFE0-2641-1385-46BD-93EE2C5B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406477-AEFB-A669-24B5-141883EC3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92BC38-224C-1BE9-B8F1-5A3A8151C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B763D-2B28-BF9B-9242-D88426A1E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080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17BE6-E90D-506D-AF11-90D14000B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9F90EE-247C-EAC1-FB56-50DCAC848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74ECBD-16FC-9E34-D4AA-E0B60D7FF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EEDCAA-2662-7269-3724-8091B210C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684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A219-8F16-EDB9-7B7D-21D43E2B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660F8F-4B79-FD72-92EB-850B13CA4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346DE6-503F-F667-380E-8BE9C74B3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AA8B0-0EA3-A42B-05A7-4D3C9D6F6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55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F3C2BC5-81DC-59CA-9420-BA29B86CE2A5}"/>
              </a:ext>
            </a:extLst>
          </p:cNvPr>
          <p:cNvSpPr txBox="1">
            <a:spLocks/>
          </p:cNvSpPr>
          <p:nvPr userDrawn="1"/>
        </p:nvSpPr>
        <p:spPr>
          <a:xfrm>
            <a:off x="0" y="6356351"/>
            <a:ext cx="9144000" cy="504000"/>
          </a:xfrm>
          <a:prstGeom prst="rect">
            <a:avLst/>
          </a:prstGeom>
          <a:solidFill>
            <a:srgbClr val="D0DB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2000" y="2243138"/>
            <a:ext cx="5760000" cy="394774"/>
          </a:xfrm>
        </p:spPr>
        <p:txBody>
          <a:bodyPr anchor="b">
            <a:noAutofit/>
          </a:bodyPr>
          <a:lstStyle>
            <a:lvl1pPr algn="ctr">
              <a:defRPr sz="2000" b="1">
                <a:solidFill>
                  <a:schemeClr val="bg2">
                    <a:lumMod val="25000"/>
                  </a:schemeClr>
                </a:solidFill>
                <a:latin typeface="+mj-lt"/>
                <a:ea typeface="휴먼둥근헤드라인" panose="02030504000101010101" pitchFamily="18" charset="-12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9551" y="3904234"/>
            <a:ext cx="4084899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  <a:latin typeface="+mj-lt"/>
                <a:ea typeface="새굴림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Sub title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79067" y="3527751"/>
            <a:ext cx="2057400" cy="365125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</a:lstStyle>
          <a:p>
            <a:fld id="{E82DF42D-C26A-4375-B368-FAF0EBA87C58}" type="datetime1">
              <a:rPr lang="ko-KR" altLang="en-US" smtClean="0"/>
              <a:pPr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25F625-ED28-C343-E557-C7010411F852}"/>
              </a:ext>
            </a:extLst>
          </p:cNvPr>
          <p:cNvGrpSpPr/>
          <p:nvPr userDrawn="1"/>
        </p:nvGrpSpPr>
        <p:grpSpPr>
          <a:xfrm>
            <a:off x="1692000" y="2651412"/>
            <a:ext cx="5760000" cy="126512"/>
            <a:chOff x="689658" y="2651412"/>
            <a:chExt cx="7772142" cy="126512"/>
          </a:xfrm>
        </p:grpSpPr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C3D7960C-017A-2C67-993D-9F4B6BB8C4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9658" y="2651412"/>
              <a:ext cx="3096000" cy="1265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62DC80C-0EC6-1058-3281-0B0E93CEE0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780578" y="2651412"/>
              <a:ext cx="1080000" cy="1265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85EF135-EB21-3987-9D4F-575EAFE6AF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61878" y="2651412"/>
              <a:ext cx="1440000" cy="12651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95206CE-E52B-DA6D-B112-4E8839BFE5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301800" y="2651412"/>
              <a:ext cx="2160000" cy="126512"/>
            </a:xfrm>
            <a:prstGeom prst="rect">
              <a:avLst/>
            </a:prstGeom>
            <a:solidFill>
              <a:srgbClr val="05007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90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43138"/>
            <a:ext cx="7772400" cy="394774"/>
          </a:xfrm>
        </p:spPr>
        <p:txBody>
          <a:bodyPr anchor="b">
            <a:noAutofit/>
          </a:bodyPr>
          <a:lstStyle>
            <a:lvl1pPr algn="ctr">
              <a:defRPr sz="2000"/>
            </a:lvl1pPr>
          </a:lstStyle>
          <a:p>
            <a:r>
              <a:rPr lang="ko-KR" altLang="en-US" dirty="0" err="1"/>
              <a:t>대제목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날짜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63B77-7ECA-415E-97DE-FE3290E3277D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521722-0646-14A5-F154-5F49D081AB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890000" y="5871537"/>
            <a:ext cx="5364000" cy="452573"/>
            <a:chOff x="274854" y="5286282"/>
            <a:chExt cx="8533993" cy="720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A17ED-418C-BE1B-52B8-855E4295334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89106" y="5286282"/>
              <a:ext cx="720000" cy="720000"/>
            </a:xfrm>
            <a:prstGeom prst="rect">
              <a:avLst/>
            </a:prstGeom>
          </p:spPr>
        </p:pic>
        <p:pic>
          <p:nvPicPr>
            <p:cNvPr id="15" name="그림 14" descr="그리기이(가) 표시된 사진&#10;&#10;자동 생성된 설명">
              <a:extLst>
                <a:ext uri="{FF2B5EF4-FFF2-40B4-BE49-F238E27FC236}">
                  <a16:creationId xmlns:a16="http://schemas.microsoft.com/office/drawing/2014/main" id="{DA9869ED-E48D-E4FA-9DF3-FE699500F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5889" y="5340282"/>
              <a:ext cx="1332181" cy="612000"/>
            </a:xfrm>
            <a:prstGeom prst="rect">
              <a:avLst/>
            </a:prstGeom>
          </p:spPr>
        </p:pic>
        <p:pic>
          <p:nvPicPr>
            <p:cNvPr id="16" name="Picture 4" descr="페이브텍(주) 2022년 기업정보 | 사원수 13명, 근무환경, 복리후생 등 기업정보 제공 - 사람인">
              <a:extLst>
                <a:ext uri="{FF2B5EF4-FFF2-40B4-BE49-F238E27FC236}">
                  <a16:creationId xmlns:a16="http://schemas.microsoft.com/office/drawing/2014/main" id="{C35E02B0-99AB-9611-B17E-82474B0B54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854" y="5376564"/>
              <a:ext cx="2520000" cy="539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6AABED8-698F-5CCA-F662-56A836414A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0141" y="5286282"/>
              <a:ext cx="71767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C34A707-25F5-59D0-9284-6EF9A82D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88847" y="5417711"/>
              <a:ext cx="2520000" cy="4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425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EA74C08-FC0C-48C4-7973-DCD4AA04E0A0}"/>
              </a:ext>
            </a:extLst>
          </p:cNvPr>
          <p:cNvSpPr txBox="1">
            <a:spLocks/>
          </p:cNvSpPr>
          <p:nvPr userDrawn="1"/>
        </p:nvSpPr>
        <p:spPr>
          <a:xfrm>
            <a:off x="358140" y="0"/>
            <a:ext cx="2735580" cy="2583180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140" y="2606"/>
            <a:ext cx="2735580" cy="937126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7FAFFD"/>
                </a:solidFill>
              </a:defRPr>
            </a:lvl1pPr>
          </a:lstStyle>
          <a:p>
            <a:r>
              <a:rPr lang="ko-KR" altLang="en-US" dirty="0"/>
              <a:t>소제목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513CD-06CD-4242-9C49-C8065E960F5A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AA27AF-EAF2-C8B4-A2B4-7ED55A0EBF14}"/>
              </a:ext>
            </a:extLst>
          </p:cNvPr>
          <p:cNvSpPr txBox="1">
            <a:spLocks/>
          </p:cNvSpPr>
          <p:nvPr userDrawn="1"/>
        </p:nvSpPr>
        <p:spPr>
          <a:xfrm>
            <a:off x="1047750" y="1646054"/>
            <a:ext cx="5620702" cy="937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7FAFF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8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FECFA9F-B9E1-6690-8D92-BB46AEC306FF}"/>
              </a:ext>
            </a:extLst>
          </p:cNvPr>
          <p:cNvSpPr txBox="1">
            <a:spLocks/>
          </p:cNvSpPr>
          <p:nvPr userDrawn="1"/>
        </p:nvSpPr>
        <p:spPr>
          <a:xfrm>
            <a:off x="495300" y="825567"/>
            <a:ext cx="8183880" cy="72708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10529"/>
            <a:ext cx="7519718" cy="41329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0" y="1379913"/>
            <a:ext cx="7886700" cy="411887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400" b="1">
                <a:solidFill>
                  <a:srgbClr val="045CEA"/>
                </a:solidFill>
              </a:defRPr>
            </a:lvl1pPr>
            <a:lvl2pPr marL="742950" indent="-285750">
              <a:lnSpc>
                <a:spcPct val="150000"/>
              </a:lnSpc>
              <a:buFontTx/>
              <a:buChar char="-"/>
              <a:defRPr sz="1200"/>
            </a:lvl2pPr>
            <a:lvl3pPr marL="1143000" indent="-228600">
              <a:buFont typeface="Wingdings" panose="05000000000000000000" pitchFamily="2" charset="2"/>
              <a:buChar char="ü"/>
              <a:defRPr sz="1100"/>
            </a:lvl3pPr>
            <a:lvl4pPr>
              <a:defRPr sz="105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28A6-7617-4A41-8036-7AA98D2D9BA0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8DD4CA3-9CF9-71AF-D78B-DC183A12B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006475"/>
            <a:ext cx="7519988" cy="29898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</p:spTree>
    <p:extLst>
      <p:ext uri="{BB962C8B-B14F-4D97-AF65-F5344CB8AC3E}">
        <p14:creationId xmlns:p14="http://schemas.microsoft.com/office/powerpoint/2010/main" val="229984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934D-8911-4B98-B20D-63994CDF9AB9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79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2CCF-FDBC-49C0-A2AA-CC222EB88CCD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8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DC7-1D08-4E86-A061-822402492D30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F629-35CE-4F7E-BA1E-91B974FCD5E4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81CF-D999-4982-B77B-692A70A6EC26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3B1B-B5EE-4A23-BCBF-70303C04E53B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24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A68F-B257-41D6-8EEE-71F3321D82BB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8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2ABA-F8E3-411C-9195-D1577316D2A8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B605-4323-62CA-4D75-A8FED7F4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693DC2-ED39-AAB9-4EAE-B4381FC43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F744D-2B92-56FC-F625-798EA0BB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8F1D-BA91-4187-8533-6A2018F40157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73D93-707F-57D1-C7F0-79346FF5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9A8440-4494-F2DD-F835-E0365C1A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34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10C5-9569-4183-F158-15B52104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913AD-3EAA-5CA6-776A-1F90A99B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840012-07E8-6731-934D-C38642B2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BA26-696B-4FA3-868F-42D610F6768C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4A182-C042-A979-B0D6-45F28980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8DE4A-44A1-C35B-15FB-17C73A41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7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024B7-FE44-0E45-DF9F-6144AC68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52E5-8975-171A-DA2F-03669C67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4F624-8FDB-B2BA-2F67-8BF807D7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BEB65-7B45-4057-8EC6-19CD3BF64D90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C5FD1-E132-9962-5A5E-05428990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27D8A-5605-09C4-7461-349A6295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01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27E50-43AF-D3DF-6B4F-259D7E1B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99B56-AE5B-5F7C-83EC-46AA25CFF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49624-9865-36B2-A9AC-6AB3249D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FAE2A-FD33-F7F4-551C-9AEC0C30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932-96FD-4B52-9C59-83E087F8E6AC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3379A-F0A0-EB74-A219-FF511FF1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1AC51-A116-FC5C-4D89-714F5921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1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1F4B2-B3D0-BB02-C112-DE9D4AF3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9C48-1DFE-17F6-DAB8-04BFF10E5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C145B-F604-92C1-0C2C-26EA16E0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CD135-A2A7-F477-EDC2-D76B241C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6A3C-F848-7654-E3FD-97D095634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334C8-F94F-02B2-BF82-D8B28681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E07A-12F4-4ECE-9405-EBF8A6551431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6D2934-8FD8-BE21-B35E-44EC8840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913C7E-B933-A974-1FC9-64A0B22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32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4E836-6D1F-C13F-7396-39580DD8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DEDC8C-6FC2-68D8-2A88-C00B2440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BB8F-A6C9-4BA9-A949-A06A4111CE3B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287E3D-716C-F368-3594-14287CDF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C879FC-3A31-F700-8931-2EAB0C66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38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FA156B-00A4-EF6E-A22F-7DC7E96B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0811-276B-423F-81CD-5A35C7424D97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E718DB-DB1D-867B-D911-41C87E8A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21E66-BC1B-F790-3355-DD0CA64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97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E7B87-3BAC-B1C7-F296-75C73B53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7E5A9-F9DD-404F-DA81-D30CE79B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70D92F-7747-FD6D-3C40-20E2DE1CA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D54DB-51DF-7C42-B9A0-67227EFC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9317-9191-4210-AE7C-5208CD2DD4DD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F8AAF-523F-4232-AA5C-0E678F58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493AC-B686-4964-3BB9-24BD59D2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3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16DB-6E62-68DF-0BD1-5322B951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E57BB2-79F8-91C1-6E02-C6765638C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22773-E6AD-E9BF-5BD7-638874FA6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44D7B-F551-5F6B-2ADC-657CC3F7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A930-387F-4297-88AA-EB30CC424A44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9A934-0681-FE80-5DC9-EEB63270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72F8A-D474-E710-8B94-B545766E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6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ADF9C-6915-345C-803B-4B4A335D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5B0E9-7E0F-11BD-F6ED-1CC0D50E2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8DE03-DB79-53CC-E029-CE154405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DD14-F7CF-4BA6-AC42-D4C3C89F586C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AEB4B-88AE-A1DE-79FD-3749D2B0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9A9AF-FAED-6711-C45D-D92D03A2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38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977A9-CF86-A5C0-9067-B28665284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81815-305C-A838-8D31-86E0775D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29E25-5BF8-5368-6257-91DAE1F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0FF-9CFE-4932-90E4-9E220B9E9B2A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B7CC7-36D5-6B73-AB12-B8B6429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3AE57-E58A-1D24-7105-53933808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F774-DA95-4AD4-A682-08F75A053250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81651-0499-8D34-FA96-00E7E447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C9EEA-F73B-DF8F-613C-046201A9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CFBDD-F8AD-5520-1568-B347BEAB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C6AE-FB71-4C7E-AAD4-D04A58C5072D}" type="datetime1">
              <a:rPr lang="ko-KR" altLang="en-US" smtClean="0"/>
              <a:t>2026-05-24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F9C89-0B82-0616-1006-50E06252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9FE3-0D36-1A96-91FE-778FD3B28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88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881C0-87F7-6DD2-2EEC-FBD77E1B4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1800" spc="5" dirty="0">
                <a:latin typeface="맑은 고딕" panose="020B0503020000020004" pitchFamily="50" charset="-127"/>
                <a:cs typeface="Times New Roman" panose="02020603050405020304" pitchFamily="18" charset="0"/>
              </a:rPr>
              <a:t>Flow chart of System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DB6F75-FC94-92A6-540D-0183BF741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5840" y="3488028"/>
            <a:ext cx="4552321" cy="30731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ko-KR" sz="23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Final Project of Digital Control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4A9B321-5B76-5907-EC11-97C0A015CD4A}"/>
              </a:ext>
            </a:extLst>
          </p:cNvPr>
          <p:cNvSpPr txBox="1">
            <a:spLocks/>
          </p:cNvSpPr>
          <p:nvPr/>
        </p:nvSpPr>
        <p:spPr>
          <a:xfrm>
            <a:off x="2236130" y="4915761"/>
            <a:ext cx="4671739" cy="8442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                                                  Thanks to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나원상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Won-Sang Ra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EABBB2-8C38-450D-3BEF-EBAAE114B568}"/>
              </a:ext>
            </a:extLst>
          </p:cNvPr>
          <p:cNvSpPr txBox="1">
            <a:spLocks/>
          </p:cNvSpPr>
          <p:nvPr/>
        </p:nvSpPr>
        <p:spPr>
          <a:xfrm>
            <a:off x="1713573" y="4105185"/>
            <a:ext cx="5760000" cy="3454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r>
              <a:rPr lang="ko-KR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오유성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(22400448), </a:t>
            </a:r>
            <a:r>
              <a:rPr lang="ko-KR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이주영 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(22200576)</a:t>
            </a:r>
            <a:endParaRPr lang="ko-KR" altLang="en-US" sz="1800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6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62"/>
    </mc:Choice>
    <mc:Fallback xmlns="">
      <p:transition spd="slow" advTm="186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214AD6-FF2D-C885-D31A-37F2F6D3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E21B74A-BA73-0F74-66E1-041EDE2365AA}"/>
              </a:ext>
            </a:extLst>
          </p:cNvPr>
          <p:cNvSpPr/>
          <p:nvPr/>
        </p:nvSpPr>
        <p:spPr>
          <a:xfrm>
            <a:off x="3729990" y="3782859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3. Generate Bode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Plot</a:t>
            </a:r>
            <a:endParaRPr lang="ko-KR" altLang="en-US" sz="14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84E99C1-591A-02EE-4B4B-2C3727009D2A}"/>
              </a:ext>
            </a:extLst>
          </p:cNvPr>
          <p:cNvSpPr/>
          <p:nvPr/>
        </p:nvSpPr>
        <p:spPr>
          <a:xfrm>
            <a:off x="3729990" y="4358442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/>
              <a:t>4. Obtain </a:t>
            </a:r>
            <a:r>
              <a:rPr lang="en-US" altLang="ko-KR" sz="1400" b="1" dirty="0" err="1"/>
              <a:t>Transfer_function</a:t>
            </a:r>
            <a:r>
              <a:rPr lang="en-US" altLang="ko-KR" sz="1400" b="1" dirty="0"/>
              <a:t> &amp; Validation</a:t>
            </a:r>
            <a:endParaRPr lang="ko-KR" altLang="en-US" sz="1400" b="1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9EDA988F-C318-C106-9159-E62B5393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1600" dirty="0"/>
              <a:t>Digital Control and Signal Processing Final Project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53145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2"/>
    </mc:Choice>
    <mc:Fallback xmlns="">
      <p:transition spd="slow" advTm="300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4AC7-1E6A-3CB8-2431-FA66AD0C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E173663-FAF9-2F30-FF87-D3C17A0E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3</a:t>
            </a:r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. Obtaining Transfer Function &amp; Validation</a:t>
            </a:r>
            <a:endParaRPr lang="ko-KR" altLang="en-US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7153BE5D-9B14-FBAB-6B26-066B2B93F22D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Obtaining </a:t>
            </a:r>
            <a:r>
              <a:rPr lang="en-US" altLang="ko-KR" sz="1600" b="1" dirty="0" err="1">
                <a:latin typeface="+mn-lt"/>
              </a:rPr>
              <a:t>freq_responses</a:t>
            </a:r>
            <a:r>
              <a:rPr lang="en-US" altLang="ko-KR" sz="1600" b="1" dirty="0">
                <a:latin typeface="+mn-lt"/>
              </a:rPr>
              <a:t> of Motor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04E5832-C989-272D-498A-4ECFBD97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B73D05-605A-870F-905C-7D62040E8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9293" y="3928388"/>
            <a:ext cx="2985220" cy="105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Range of Check: 0.2 – 5.8 [Hz]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Bandwidth: ~ 3.0 [Hz]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System_order</a:t>
            </a:r>
            <a:r>
              <a:rPr lang="en-US" altLang="ko-KR" sz="1100" dirty="0">
                <a:cs typeface="Arial" panose="020B0604020202020204" pitchFamily="34" charset="0"/>
              </a:rPr>
              <a:t>: 1st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DC_gain</a:t>
            </a:r>
            <a:r>
              <a:rPr lang="en-US" altLang="ko-KR" sz="1100" dirty="0">
                <a:cs typeface="Arial" panose="020B0604020202020204" pitchFamily="34" charset="0"/>
              </a:rPr>
              <a:t>: ~ 1112.43 [deg/sec]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E337FD-A38A-A5BD-7B07-8575F55B2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38" y="1530293"/>
            <a:ext cx="6548155" cy="418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9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BA52-0F34-D769-C561-C7C5C287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C67562F4-4111-E784-8A9A-0090C82D2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4.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스퀘어 Bold" panose="020B0600000101010101" pitchFamily="50" charset="-127"/>
                <a:cs typeface="+mj-cs"/>
              </a:rPr>
              <a:t>Obtaining Transfer Function &amp; Validation</a:t>
            </a:r>
            <a:endParaRPr lang="ko-KR" altLang="en-US" b="1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31C0AEBE-1957-23D2-4367-EF57085B0258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Obtaining Transfer function of Motor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138D92-F8FD-BC9E-C128-2E029584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D7CB46-4C0A-23E6-DE8D-37687F6E7977}"/>
                  </a:ext>
                </a:extLst>
              </p:cNvPr>
              <p:cNvSpPr txBox="1"/>
              <p:nvPr/>
            </p:nvSpPr>
            <p:spPr>
              <a:xfrm>
                <a:off x="580380" y="1416183"/>
                <a:ext cx="1733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ko-KR" b="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D7CB46-4C0A-23E6-DE8D-37687F6E7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80" y="1416183"/>
                <a:ext cx="1733616" cy="276999"/>
              </a:xfrm>
              <a:prstGeom prst="rect">
                <a:avLst/>
              </a:prstGeom>
              <a:blipFill>
                <a:blip r:embed="rId3"/>
                <a:stretch>
                  <a:fillRect l="-2456"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E237FC35-ED59-5C3B-7EE6-14246DEFF511}"/>
              </a:ext>
            </a:extLst>
          </p:cNvPr>
          <p:cNvSpPr/>
          <p:nvPr/>
        </p:nvSpPr>
        <p:spPr>
          <a:xfrm>
            <a:off x="2586960" y="1348036"/>
            <a:ext cx="431604" cy="413292"/>
          </a:xfrm>
          <a:prstGeom prst="rightArrow">
            <a:avLst/>
          </a:prstGeom>
          <a:solidFill>
            <a:srgbClr val="FF98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20C7E1-E994-4210-6BAF-48BE017021C3}"/>
                  </a:ext>
                </a:extLst>
              </p:cNvPr>
              <p:cNvSpPr txBox="1"/>
              <p:nvPr/>
            </p:nvSpPr>
            <p:spPr>
              <a:xfrm>
                <a:off x="3291528" y="1292174"/>
                <a:ext cx="3494310" cy="525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mtClean="0">
                          <a:latin typeface="Cambria Math" panose="02040503050406030204" pitchFamily="18" charset="0"/>
                        </a:rPr>
                        <m:t>1112.4385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10.6798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 +11.0963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20C7E1-E994-4210-6BAF-48BE01702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528" y="1292174"/>
                <a:ext cx="3494310" cy="525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8">
            <a:extLst>
              <a:ext uri="{FF2B5EF4-FFF2-40B4-BE49-F238E27FC236}">
                <a16:creationId xmlns:a16="http://schemas.microsoft.com/office/drawing/2014/main" id="{E1E68A2E-EA1F-3EDA-5CD9-49548B46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3889" y="4314355"/>
            <a:ext cx="2582823" cy="296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Fitted_range</a:t>
            </a:r>
            <a:r>
              <a:rPr lang="en-US" altLang="ko-KR" sz="1100" dirty="0">
                <a:cs typeface="Arial" panose="020B0604020202020204" pitchFamily="34" charset="0"/>
              </a:rPr>
              <a:t>: 0.3 – 1.3 [Hz]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D7BA0F-3BD9-C96E-7AC9-646FABE35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2" y="2052968"/>
            <a:ext cx="6125436" cy="406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5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4F7E0-985D-A1C7-A867-292857598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484947C-8AAE-C5BD-D97A-DFCBEE12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6.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스퀘어 Bold" panose="020B0600000101010101" pitchFamily="50" charset="-127"/>
                <a:cs typeface="+mj-cs"/>
              </a:rPr>
              <a:t>Motor Validation</a:t>
            </a:r>
            <a:endParaRPr lang="ko-KR" altLang="en-US" b="1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DA5556BD-9CD0-21ED-707A-53417A1DB39C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Representative Frequencies: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4486FAE-72F6-755D-75A5-E909A86F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4CF4696-3DFE-E864-A2F9-8018C2E3B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684581"/>
            <a:ext cx="4310387" cy="299227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39F5530-14DD-0A91-E0E3-A183C5DAA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379" y="1818059"/>
            <a:ext cx="4034514" cy="272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4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D69C9-44F8-30BA-E1FB-DCFBAE430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FEAC638-5B11-07D1-AFE5-B9E208A0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6.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스퀘어 Bold" panose="020B0600000101010101" pitchFamily="50" charset="-127"/>
                <a:cs typeface="+mj-cs"/>
              </a:rPr>
              <a:t>Motor Validation</a:t>
            </a:r>
            <a:endParaRPr lang="ko-KR" altLang="en-US" b="1" dirty="0">
              <a:latin typeface="+mn-lt"/>
            </a:endParaRPr>
          </a:p>
        </p:txBody>
      </p:sp>
      <p:sp>
        <p:nvSpPr>
          <p:cNvPr id="10" name="제목 6">
            <a:extLst>
              <a:ext uri="{FF2B5EF4-FFF2-40B4-BE49-F238E27FC236}">
                <a16:creationId xmlns:a16="http://schemas.microsoft.com/office/drawing/2014/main" id="{9235C69B-E9B9-0DF3-C1BF-F356D4C79DC1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+mn-lt"/>
              </a:rPr>
              <a:t>Representative Frequencies: </a:t>
            </a:r>
            <a:endParaRPr lang="ko-KR" altLang="en-US" sz="1600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58FBEE-9F38-1B25-3BB3-219414833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210738-76F3-9A59-F017-2FF2C0F99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25" y="1395351"/>
            <a:ext cx="4205575" cy="286125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CAD06E-6EF9-73FC-8911-9C0E4E113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865" y="1480617"/>
            <a:ext cx="4058459" cy="277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3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4E360-8048-41E1-7422-96727F07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BA0FD4B-E0E1-544E-FF84-591B94BC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6-1</a:t>
            </a:r>
            <a:r>
              <a:rPr lang="en-US" altLang="ko-KR" sz="2400" b="1" dirty="0">
                <a:latin typeface="+mn-lt"/>
                <a:ea typeface="나눔스퀘어 Bold" panose="020B0600000101010101" pitchFamily="50" charset="-127"/>
              </a:rPr>
              <a:t>. Visualizing </a:t>
            </a:r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Errors 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FD5D253-9DAA-DD1B-0A25-20432A86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9EC332-FDC7-68AD-CB5F-524DDB4C1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1" y="988513"/>
            <a:ext cx="6215380" cy="5148679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6AE7C713-10C7-2F87-72BF-8ABA71F36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3" y="2770354"/>
            <a:ext cx="2985220" cy="804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RMS fit: ~ 80 % following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Magnitude fit: ~ 90 % 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Phase Error: Needs to be talked.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AD3A414-0167-39CF-62DB-301348F02293}"/>
              </a:ext>
            </a:extLst>
          </p:cNvPr>
          <p:cNvSpPr/>
          <p:nvPr/>
        </p:nvSpPr>
        <p:spPr>
          <a:xfrm>
            <a:off x="878840" y="4607560"/>
            <a:ext cx="2250440" cy="1036320"/>
          </a:xfrm>
          <a:prstGeom prst="roundRect">
            <a:avLst>
              <a:gd name="adj" fmla="val 9824"/>
            </a:avLst>
          </a:prstGeom>
          <a:noFill/>
          <a:ln w="28575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A4D268A-49C8-E47B-8282-2D678EB671A5}"/>
              </a:ext>
            </a:extLst>
          </p:cNvPr>
          <p:cNvSpPr/>
          <p:nvPr/>
        </p:nvSpPr>
        <p:spPr>
          <a:xfrm>
            <a:off x="3474818" y="4712428"/>
            <a:ext cx="431604" cy="413292"/>
          </a:xfrm>
          <a:prstGeom prst="rightArrow">
            <a:avLst/>
          </a:prstGeom>
          <a:solidFill>
            <a:srgbClr val="FF98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BD1AB494-3D75-676D-3D4D-A57ECA7F9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3" y="4480602"/>
            <a:ext cx="2985220" cy="105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The leading terms in low frequency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Inertia is detected 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>
                <a:cs typeface="Arial" panose="020B0604020202020204" pitchFamily="34" charset="0"/>
              </a:rPr>
              <a:t>Jump discontinuity in neg region</a:t>
            </a:r>
          </a:p>
          <a:p>
            <a:pPr marL="214313" indent="-214313"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en-US" altLang="ko-KR" sz="1100" dirty="0" err="1">
                <a:cs typeface="Arial" panose="020B0604020202020204" pitchFamily="34" charset="0"/>
              </a:rPr>
              <a:t>Deadzone</a:t>
            </a:r>
            <a:r>
              <a:rPr lang="en-US" altLang="ko-KR" sz="1100" dirty="0">
                <a:cs typeface="Arial" panose="020B0604020202020204" pitchFamily="34" charset="0"/>
              </a:rPr>
              <a:t> &amp; Backlash movement.	</a:t>
            </a:r>
          </a:p>
        </p:txBody>
      </p:sp>
    </p:spTree>
    <p:extLst>
      <p:ext uri="{BB962C8B-B14F-4D97-AF65-F5344CB8AC3E}">
        <p14:creationId xmlns:p14="http://schemas.microsoft.com/office/powerpoint/2010/main" val="334403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2D20-D04D-0D22-681E-CCCC2D7B9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76731812-034D-3025-723C-AD62B8C7B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+mn-lt"/>
                <a:ea typeface="나눔스퀘어 Bold" panose="020B0600000101010101" pitchFamily="50" charset="-127"/>
              </a:rPr>
              <a:t>Appendix </a:t>
            </a:r>
            <a:endParaRPr lang="ko-KR" altLang="en-US" b="1" dirty="0">
              <a:latin typeface="+mn-l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223356A-9D01-64F0-4C17-5445A818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D787DE2-3C54-7F16-A9C3-56543CDEF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487200"/>
            <a:ext cx="5547360" cy="3487360"/>
          </a:xfrm>
          <a:prstGeom prst="rect">
            <a:avLst/>
          </a:prstGeom>
        </p:spPr>
      </p:pic>
      <p:sp>
        <p:nvSpPr>
          <p:cNvPr id="10" name="제목 6">
            <a:extLst>
              <a:ext uri="{FF2B5EF4-FFF2-40B4-BE49-F238E27FC236}">
                <a16:creationId xmlns:a16="http://schemas.microsoft.com/office/drawing/2014/main" id="{81AEE5A7-E5B4-BD41-779B-BF3580A7C5F6}"/>
              </a:ext>
            </a:extLst>
          </p:cNvPr>
          <p:cNvSpPr txBox="1">
            <a:spLocks/>
          </p:cNvSpPr>
          <p:nvPr/>
        </p:nvSpPr>
        <p:spPr>
          <a:xfrm>
            <a:off x="495300" y="902940"/>
            <a:ext cx="3236690" cy="413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 err="1">
                <a:latin typeface="+mn-lt"/>
              </a:rPr>
              <a:t>invFreq</a:t>
            </a:r>
            <a:r>
              <a:rPr lang="en-US" altLang="ko-KR" sz="1600" b="1" dirty="0">
                <a:latin typeface="+mn-lt"/>
              </a:rPr>
              <a:t>(1,2): </a:t>
            </a:r>
            <a:endParaRPr lang="ko-KR" altLang="en-US" sz="16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504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783"/>
    </mc:Choice>
    <mc:Fallback xmlns="">
      <p:transition spd="slow" advTm="86783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에스코어드림">
      <a:majorFont>
        <a:latin typeface="Calibri Light"/>
        <a:ea typeface="에스코어 드림 6 Bold"/>
        <a:cs typeface=""/>
      </a:majorFont>
      <a:minorFont>
        <a:latin typeface="Calibri"/>
        <a:ea typeface="에스코어 드림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fd5d-5799-4231-b04c-96401190256d" xsi:nil="true"/>
    <lcf76f155ced4ddcb4097134ff3c332f xmlns="ecb78d4e-e55c-4e7d-8ea6-0e0f2bb207a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F92F0B5313546897FC90F31853BBC" ma:contentTypeVersion="17" ma:contentTypeDescription="새 문서를 만듭니다." ma:contentTypeScope="" ma:versionID="01f3bfb803af81975f7724404d7ca805">
  <xsd:schema xmlns:xsd="http://www.w3.org/2001/XMLSchema" xmlns:xs="http://www.w3.org/2001/XMLSchema" xmlns:p="http://schemas.microsoft.com/office/2006/metadata/properties" xmlns:ns2="400cfd5d-5799-4231-b04c-96401190256d" xmlns:ns3="ecb78d4e-e55c-4e7d-8ea6-0e0f2bb207af" targetNamespace="http://schemas.microsoft.com/office/2006/metadata/properties" ma:root="true" ma:fieldsID="efa3055e76958559751629e0ee17becc" ns2:_="" ns3:_="">
    <xsd:import namespace="400cfd5d-5799-4231-b04c-96401190256d"/>
    <xsd:import namespace="ecb78d4e-e55c-4e7d-8ea6-0e0f2bb207a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fd5d-5799-4231-b04c-9640119025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79ff50-2a45-4012-99bf-9beee4910333}" ma:internalName="TaxCatchAll" ma:showField="CatchAllData" ma:web="400cfd5d-5799-4231-b04c-9640119025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78d4e-e55c-4e7d-8ea6-0e0f2bb20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ac8a2166-609b-46cc-bb79-1f8badf8bf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56FF71-086F-4364-AB42-761853C03E2E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ecb78d4e-e55c-4e7d-8ea6-0e0f2bb207af"/>
    <ds:schemaRef ds:uri="400cfd5d-5799-4231-b04c-96401190256d"/>
    <ds:schemaRef ds:uri="http://purl.org/dc/terms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3115F24-632F-4EE3-A471-7D91785DF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0cfd5d-5799-4231-b04c-96401190256d"/>
    <ds:schemaRef ds:uri="ecb78d4e-e55c-4e7d-8ea6-0e0f2bb207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D3A792-1ED0-417E-9576-F1CD3FA67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9274</TotalTime>
  <Words>202</Words>
  <Application>Microsoft Office PowerPoint</Application>
  <PresentationFormat>화면 슬라이드 쇼(4:3)</PresentationFormat>
  <Paragraphs>48</Paragraphs>
  <Slides>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테마</vt:lpstr>
      <vt:lpstr>디자인 사용자 지정</vt:lpstr>
      <vt:lpstr>Flow chart of System</vt:lpstr>
      <vt:lpstr>Digital Control and Signal Processing Final Project</vt:lpstr>
      <vt:lpstr>3. Obtaining Transfer Function &amp; Validation</vt:lpstr>
      <vt:lpstr>4. Obtaining Transfer Function &amp; Validation</vt:lpstr>
      <vt:lpstr>6. Motor Validation</vt:lpstr>
      <vt:lpstr>6. Motor Validation</vt:lpstr>
      <vt:lpstr>6-1. Visualizing Errors </vt:lpstr>
      <vt:lpstr>Appendix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JoHan Jin</dc:creator>
  <cp:lastModifiedBy>유성 오</cp:lastModifiedBy>
  <cp:revision>83</cp:revision>
  <dcterms:created xsi:type="dcterms:W3CDTF">2022-06-23T13:17:03Z</dcterms:created>
  <dcterms:modified xsi:type="dcterms:W3CDTF">2026-05-25T04:10:54Z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0x010100C5FF92F0B5313546897FC90F31853BBC</vt:lpwstr>
  </property>
</Properties>
</file>