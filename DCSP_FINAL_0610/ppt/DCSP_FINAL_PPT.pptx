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4"/>
    <p:sldMasterId id="2147483672" r:id="rId5"/>
  </p:sldMasterIdLst>
  <p:notesMasterIdLst>
    <p:notesMasterId r:id="rId11"/>
  </p:notesMasterIdLst>
  <p:sldIdLst>
    <p:sldId id="336" r:id="rId6"/>
    <p:sldId id="362" r:id="rId7"/>
    <p:sldId id="372" r:id="rId8"/>
    <p:sldId id="380" r:id="rId9"/>
    <p:sldId id="37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4B444"/>
    <a:srgbClr val="C3DAA4"/>
    <a:srgbClr val="66D096"/>
    <a:srgbClr val="FFFFFF"/>
    <a:srgbClr val="F2C558"/>
    <a:srgbClr val="D95319"/>
    <a:srgbClr val="6CFF6C"/>
    <a:srgbClr val="00FF00"/>
    <a:srgbClr val="555054"/>
    <a:srgbClr val="FF98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831" autoAdjust="0"/>
    <p:restoredTop sz="94776" autoAdjust="0"/>
  </p:normalViewPr>
  <p:slideViewPr>
    <p:cSldViewPr snapToGrid="0">
      <p:cViewPr varScale="1">
        <p:scale>
          <a:sx n="100" d="100"/>
          <a:sy n="100" d="100"/>
        </p:scale>
        <p:origin x="1368" y="4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90" d="100"/>
        <a:sy n="190" d="100"/>
      </p:scale>
      <p:origin x="0" y="0"/>
    </p:cViewPr>
  </p:sorterViewPr>
  <p:notesViewPr>
    <p:cSldViewPr snapToGrid="0">
      <p:cViewPr varScale="1">
        <p:scale>
          <a:sx n="122" d="100"/>
          <a:sy n="122" d="100"/>
        </p:scale>
        <p:origin x="1056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15" Type="http://schemas.openxmlformats.org/officeDocument/2006/relationships/tableStyles" Target="tableStyles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F4BCEA-3FF4-4CB2-B00C-F3A2A72C868C}" type="datetimeFigureOut">
              <a:rPr lang="ko-KR" altLang="en-US" smtClean="0"/>
              <a:t>2026-06-22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89E238-56E2-498F-AF52-A01BE2759D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08153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F15AFB-9CDE-E1BD-684A-E414795D2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137B2BF-A42A-E135-34D3-33C22F616F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CC1BE4F-92F7-354A-8CA8-A4594F7181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 latinLnBrk="1">
              <a:lnSpc>
                <a:spcPct val="107000"/>
              </a:lnSpc>
              <a:spcAft>
                <a:spcPts val="800"/>
              </a:spcAft>
            </a:pPr>
            <a:endParaRPr lang="ko-KR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A839C02-D67D-4217-1F64-BD2685CD23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89E238-56E2-498F-AF52-A01BE2759D45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75407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FFFC6-A7C3-6003-B764-890BE3309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7AEDA85-0FD6-B95F-37A4-44C2344869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6FBC6C0-2082-89EE-7936-FD6F4A644D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 latinLnBrk="1">
              <a:lnSpc>
                <a:spcPct val="107000"/>
              </a:lnSpc>
              <a:spcAft>
                <a:spcPts val="800"/>
              </a:spcAft>
            </a:pPr>
            <a:endParaRPr lang="ko-KR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957FA14-5EFF-AFB9-D77A-167B518843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89E238-56E2-498F-AF52-A01BE2759D45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25974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AF9A62-70D5-8150-A6F9-25118B169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C817A98-CE31-5C54-95B3-EA01DD91D5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D87B07A-A5E9-2695-BF0B-2C94635077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 latinLnBrk="1">
              <a:lnSpc>
                <a:spcPct val="107000"/>
              </a:lnSpc>
              <a:spcAft>
                <a:spcPts val="800"/>
              </a:spcAft>
            </a:pPr>
            <a:endParaRPr lang="ko-KR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70755A9-29ED-2195-8233-B924E57B84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89E238-56E2-498F-AF52-A01BE2759D45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8300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5F3C2BC5-81DC-59CA-9420-BA29B86CE2A5}"/>
              </a:ext>
            </a:extLst>
          </p:cNvPr>
          <p:cNvSpPr txBox="1">
            <a:spLocks/>
          </p:cNvSpPr>
          <p:nvPr userDrawn="1"/>
        </p:nvSpPr>
        <p:spPr>
          <a:xfrm>
            <a:off x="0" y="6356351"/>
            <a:ext cx="9144000" cy="504000"/>
          </a:xfrm>
          <a:prstGeom prst="rect">
            <a:avLst/>
          </a:prstGeom>
          <a:solidFill>
            <a:srgbClr val="D0DBF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692000" y="2243138"/>
            <a:ext cx="5760000" cy="394774"/>
          </a:xfrm>
        </p:spPr>
        <p:txBody>
          <a:bodyPr anchor="b">
            <a:noAutofit/>
          </a:bodyPr>
          <a:lstStyle>
            <a:lvl1pPr algn="ctr">
              <a:defRPr sz="2000" b="1">
                <a:solidFill>
                  <a:schemeClr val="bg2">
                    <a:lumMod val="25000"/>
                  </a:schemeClr>
                </a:solidFill>
                <a:latin typeface="+mj-lt"/>
                <a:ea typeface="휴먼둥근헤드라인" panose="02030504000101010101" pitchFamily="18" charset="-127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529551" y="3904234"/>
            <a:ext cx="4084899" cy="307313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bg2">
                    <a:lumMod val="50000"/>
                  </a:schemeClr>
                </a:solidFill>
                <a:latin typeface="+mj-lt"/>
                <a:ea typeface="새굴림" panose="02030600000101010101" pitchFamily="18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ko-KR"/>
              <a:t>Sub title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579067" y="3527751"/>
            <a:ext cx="2057400" cy="365125"/>
          </a:xfrm>
        </p:spPr>
        <p:txBody>
          <a:bodyPr/>
          <a:lstStyle>
            <a:lvl1pPr algn="ctr">
              <a:defRPr b="0">
                <a:solidFill>
                  <a:schemeClr val="tx1"/>
                </a:solidFill>
                <a:latin typeface="+mj-lt"/>
                <a:ea typeface="맑은 고딕" panose="020B0503020000020004" pitchFamily="50" charset="-127"/>
              </a:defRPr>
            </a:lvl1pPr>
          </a:lstStyle>
          <a:p>
            <a:fld id="{E82DF42D-C26A-4375-B368-FAF0EBA87C58}" type="datetime1">
              <a:rPr lang="ko-KR" altLang="en-US" smtClean="0"/>
              <a:pPr/>
              <a:t>2026-06-22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7753D-33D3-4DE4-B918-257BB52428D1}" type="slidenum">
              <a:rPr lang="ko-KR" altLang="en-US" smtClean="0"/>
              <a:t>‹#›</a:t>
            </a:fld>
            <a:endParaRPr lang="ko-KR" altLang="en-US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0F25F625-ED28-C343-E557-C7010411F852}"/>
              </a:ext>
            </a:extLst>
          </p:cNvPr>
          <p:cNvGrpSpPr/>
          <p:nvPr userDrawn="1"/>
        </p:nvGrpSpPr>
        <p:grpSpPr>
          <a:xfrm>
            <a:off x="1692000" y="2651412"/>
            <a:ext cx="5760000" cy="126512"/>
            <a:chOff x="689658" y="2651412"/>
            <a:chExt cx="7772142" cy="126512"/>
          </a:xfrm>
        </p:grpSpPr>
        <p:sp>
          <p:nvSpPr>
            <p:cNvPr id="23" name="Title 1">
              <a:extLst>
                <a:ext uri="{FF2B5EF4-FFF2-40B4-BE49-F238E27FC236}">
                  <a16:creationId xmlns:a16="http://schemas.microsoft.com/office/drawing/2014/main" id="{C3D7960C-017A-2C67-993D-9F4B6BB8C4AC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689658" y="2651412"/>
              <a:ext cx="3096000" cy="126512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2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0" name="Title 1">
              <a:extLst>
                <a:ext uri="{FF2B5EF4-FFF2-40B4-BE49-F238E27FC236}">
                  <a16:creationId xmlns:a16="http://schemas.microsoft.com/office/drawing/2014/main" id="{162DC80C-0EC6-1058-3281-0B0E93CEE01F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3780578" y="2651412"/>
              <a:ext cx="1080000" cy="126512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2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1" name="Title 1">
              <a:extLst>
                <a:ext uri="{FF2B5EF4-FFF2-40B4-BE49-F238E27FC236}">
                  <a16:creationId xmlns:a16="http://schemas.microsoft.com/office/drawing/2014/main" id="{485EF135-EB21-3987-9D4F-575EAFE6AF55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861878" y="2651412"/>
              <a:ext cx="1440000" cy="126512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2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3" name="Title 1">
              <a:extLst>
                <a:ext uri="{FF2B5EF4-FFF2-40B4-BE49-F238E27FC236}">
                  <a16:creationId xmlns:a16="http://schemas.microsoft.com/office/drawing/2014/main" id="{895206CE-E52B-DA6D-B112-4E8839BFE5BD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6301800" y="2651412"/>
              <a:ext cx="2160000" cy="126512"/>
            </a:xfrm>
            <a:prstGeom prst="rect">
              <a:avLst/>
            </a:prstGeom>
            <a:solidFill>
              <a:srgbClr val="050070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2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249083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243138"/>
            <a:ext cx="7772400" cy="394774"/>
          </a:xfrm>
        </p:spPr>
        <p:txBody>
          <a:bodyPr anchor="b">
            <a:noAutofit/>
          </a:bodyPr>
          <a:lstStyle>
            <a:lvl1pPr algn="ctr">
              <a:defRPr sz="2000"/>
            </a:lvl1pPr>
          </a:lstStyle>
          <a:p>
            <a:r>
              <a:rPr lang="ko-KR" altLang="en-US" dirty="0" err="1"/>
              <a:t>대제목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43000" y="3602038"/>
            <a:ext cx="6858000" cy="307313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날짜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63B77-7ECA-415E-97DE-FE3290E3277D}" type="datetime1">
              <a:rPr lang="ko-KR" altLang="en-US" smtClean="0"/>
              <a:t>2026-06-22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7753D-33D3-4DE4-B918-257BB52428D1}" type="slidenum">
              <a:rPr lang="ko-KR" altLang="en-US" smtClean="0"/>
              <a:t>‹#›</a:t>
            </a:fld>
            <a:endParaRPr lang="ko-KR" altLang="en-US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68521722-0646-14A5-F154-5F49D081AB74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890000" y="5871537"/>
            <a:ext cx="5364000" cy="452573"/>
            <a:chOff x="274854" y="5286282"/>
            <a:chExt cx="8533993" cy="720000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350A17ED-418C-BE1B-52B8-855E4295334D}"/>
                </a:ext>
              </a:extLst>
            </p:cNvPr>
            <p:cNvPicPr preferRelativeResize="0">
              <a:picLocks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4489106" y="5286282"/>
              <a:ext cx="720000" cy="720000"/>
            </a:xfrm>
            <a:prstGeom prst="rect">
              <a:avLst/>
            </a:prstGeom>
          </p:spPr>
        </p:pic>
        <p:pic>
          <p:nvPicPr>
            <p:cNvPr id="15" name="그림 14" descr="그리기이(가) 표시된 사진&#10;&#10;자동 생성된 설명">
              <a:extLst>
                <a:ext uri="{FF2B5EF4-FFF2-40B4-BE49-F238E27FC236}">
                  <a16:creationId xmlns:a16="http://schemas.microsoft.com/office/drawing/2014/main" id="{DA9869ED-E48D-E4FA-9DF3-FE699500F04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975889" y="5340282"/>
              <a:ext cx="1332181" cy="612000"/>
            </a:xfrm>
            <a:prstGeom prst="rect">
              <a:avLst/>
            </a:prstGeom>
          </p:spPr>
        </p:pic>
        <p:pic>
          <p:nvPicPr>
            <p:cNvPr id="16" name="Picture 4" descr="페이브텍(주) 2022년 기업정보 | 사원수 13명, 근무환경, 복리후생 등 기업정보 제공 - 사람인">
              <a:extLst>
                <a:ext uri="{FF2B5EF4-FFF2-40B4-BE49-F238E27FC236}">
                  <a16:creationId xmlns:a16="http://schemas.microsoft.com/office/drawing/2014/main" id="{C35E02B0-99AB-9611-B17E-82474B0B545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4854" y="5376564"/>
              <a:ext cx="2520000" cy="53943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2">
              <a:extLst>
                <a:ext uri="{FF2B5EF4-FFF2-40B4-BE49-F238E27FC236}">
                  <a16:creationId xmlns:a16="http://schemas.microsoft.com/office/drawing/2014/main" id="{06AABED8-698F-5CCA-F662-56A836414AA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90141" y="5286282"/>
              <a:ext cx="717670" cy="72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id="{9C34A707-25F5-59D0-9284-6EF9A82D560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288847" y="5417711"/>
              <a:ext cx="2520000" cy="45714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842551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4EA74C08-FC0C-48C4-7973-DCD4AA04E0A0}"/>
              </a:ext>
            </a:extLst>
          </p:cNvPr>
          <p:cNvSpPr txBox="1">
            <a:spLocks/>
          </p:cNvSpPr>
          <p:nvPr userDrawn="1"/>
        </p:nvSpPr>
        <p:spPr>
          <a:xfrm>
            <a:off x="358140" y="0"/>
            <a:ext cx="2735580" cy="2583180"/>
          </a:xfrm>
          <a:prstGeom prst="rect">
            <a:avLst/>
          </a:prstGeom>
          <a:solidFill>
            <a:srgbClr val="022D70"/>
          </a:soli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58140" y="2606"/>
            <a:ext cx="2735580" cy="937126"/>
          </a:xfrm>
        </p:spPr>
        <p:txBody>
          <a:bodyPr anchor="b">
            <a:normAutofit/>
          </a:bodyPr>
          <a:lstStyle>
            <a:lvl1pPr>
              <a:defRPr sz="2800">
                <a:solidFill>
                  <a:srgbClr val="7FAFFD"/>
                </a:solidFill>
              </a:defRPr>
            </a:lvl1pPr>
          </a:lstStyle>
          <a:p>
            <a:r>
              <a:rPr lang="ko-KR" altLang="en-US" dirty="0"/>
              <a:t>소제목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513CD-06CD-4242-9C49-C8065E960F5A}" type="datetime1">
              <a:rPr lang="ko-KR" altLang="en-US" smtClean="0"/>
              <a:t>2026-06-22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7753D-33D3-4DE4-B918-257BB52428D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8AA27AF-EAF2-C8B4-A2B4-7ED55A0EBF14}"/>
              </a:ext>
            </a:extLst>
          </p:cNvPr>
          <p:cNvSpPr txBox="1">
            <a:spLocks/>
          </p:cNvSpPr>
          <p:nvPr userDrawn="1"/>
        </p:nvSpPr>
        <p:spPr>
          <a:xfrm>
            <a:off x="1047750" y="1646054"/>
            <a:ext cx="5620702" cy="93712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rgbClr val="7FAFFD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solidFill>
                  <a:schemeClr val="bg1"/>
                </a:solidFill>
              </a:rPr>
              <a:t>Contents</a:t>
            </a:r>
          </a:p>
        </p:txBody>
      </p:sp>
    </p:spTree>
    <p:extLst>
      <p:ext uri="{BB962C8B-B14F-4D97-AF65-F5344CB8AC3E}">
        <p14:creationId xmlns:p14="http://schemas.microsoft.com/office/powerpoint/2010/main" val="3388391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>
            <a:extLst>
              <a:ext uri="{FF2B5EF4-FFF2-40B4-BE49-F238E27FC236}">
                <a16:creationId xmlns:a16="http://schemas.microsoft.com/office/drawing/2014/main" id="{6FECFA9F-B9E1-6690-8D92-BB46AEC306FF}"/>
              </a:ext>
            </a:extLst>
          </p:cNvPr>
          <p:cNvSpPr txBox="1">
            <a:spLocks/>
          </p:cNvSpPr>
          <p:nvPr userDrawn="1"/>
        </p:nvSpPr>
        <p:spPr>
          <a:xfrm>
            <a:off x="495300" y="825567"/>
            <a:ext cx="8183880" cy="72708"/>
          </a:xfrm>
          <a:prstGeom prst="rect">
            <a:avLst/>
          </a:prstGeom>
          <a:solidFill>
            <a:srgbClr val="022D70"/>
          </a:soli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410529"/>
            <a:ext cx="7519718" cy="413292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110" y="1379913"/>
            <a:ext cx="7886700" cy="4118870"/>
          </a:xfrm>
        </p:spPr>
        <p:txBody>
          <a:bodyPr>
            <a:normAutofit/>
          </a:bodyPr>
          <a:lstStyle>
            <a:lvl1pPr marL="228600" indent="-228600">
              <a:buFont typeface="Wingdings" panose="05000000000000000000" pitchFamily="2" charset="2"/>
              <a:buChar char="§"/>
              <a:defRPr sz="1400" b="1">
                <a:solidFill>
                  <a:srgbClr val="045CEA"/>
                </a:solidFill>
              </a:defRPr>
            </a:lvl1pPr>
            <a:lvl2pPr marL="742950" indent="-285750">
              <a:lnSpc>
                <a:spcPct val="150000"/>
              </a:lnSpc>
              <a:buFontTx/>
              <a:buChar char="-"/>
              <a:defRPr sz="1200"/>
            </a:lvl2pPr>
            <a:lvl3pPr marL="1143000" indent="-228600">
              <a:buFont typeface="Wingdings" panose="05000000000000000000" pitchFamily="2" charset="2"/>
              <a:buChar char="ü"/>
              <a:defRPr sz="1100"/>
            </a:lvl3pPr>
            <a:lvl4pPr>
              <a:defRPr sz="105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  <a:endParaRPr lang="en-US" altLang="ko-KR" dirty="0"/>
          </a:p>
          <a:p>
            <a:pPr lvl="1"/>
            <a:r>
              <a:rPr lang="ko-KR" altLang="en-US" dirty="0"/>
              <a:t>두 번째 수준</a:t>
            </a:r>
            <a:endParaRPr lang="en-US" altLang="ko-KR" dirty="0"/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928A6-7617-4A41-8036-7AA98D2D9BA0}" type="datetime1">
              <a:rPr lang="ko-KR" altLang="en-US" smtClean="0"/>
              <a:t>2026-06-22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7753D-33D3-4DE4-B918-257BB52428D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78DD4CA3-9CF9-71AF-D78B-DC183A12B06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5300" y="1006475"/>
            <a:ext cx="7519988" cy="298984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ko-KR" altLang="en-US" dirty="0"/>
              <a:t>소제목</a:t>
            </a:r>
          </a:p>
        </p:txBody>
      </p:sp>
    </p:spTree>
    <p:extLst>
      <p:ext uri="{BB962C8B-B14F-4D97-AF65-F5344CB8AC3E}">
        <p14:creationId xmlns:p14="http://schemas.microsoft.com/office/powerpoint/2010/main" val="22998473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934D-8911-4B98-B20D-63994CDF9AB9}" type="datetime1">
              <a:rPr lang="ko-KR" altLang="en-US" smtClean="0"/>
              <a:t>2026-06-22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7753D-33D3-4DE4-B918-257BB52428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1799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D2CCF-FDBC-49C0-A2AA-CC222EB88CCD}" type="datetime1">
              <a:rPr lang="ko-KR" altLang="en-US" smtClean="0"/>
              <a:t>2026-06-22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7753D-33D3-4DE4-B918-257BB52428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47855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3BDC7-1D08-4E86-A061-822402492D30}" type="datetime1">
              <a:rPr lang="ko-KR" altLang="en-US" smtClean="0"/>
              <a:t>2026-06-22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7753D-33D3-4DE4-B918-257BB52428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3526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EF629-35CE-4F7E-BA1E-91B974FCD5E4}" type="datetime1">
              <a:rPr lang="ko-KR" altLang="en-US" smtClean="0"/>
              <a:t>2026-06-22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7753D-33D3-4DE4-B918-257BB52428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80093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81CF-D999-4982-B77B-692A70A6EC26}" type="datetime1">
              <a:rPr lang="ko-KR" altLang="en-US" smtClean="0"/>
              <a:t>2026-06-22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7753D-33D3-4DE4-B918-257BB52428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1751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93B1B-B5EE-4A23-BCBF-70303C04E53B}" type="datetime1">
              <a:rPr lang="ko-KR" altLang="en-US" smtClean="0"/>
              <a:t>2026-06-22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7753D-33D3-4DE4-B918-257BB52428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72438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9A68F-B257-41D6-8EEE-71F3321D82BB}" type="datetime1">
              <a:rPr lang="ko-KR" altLang="en-US" smtClean="0"/>
              <a:t>2026-06-22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7753D-33D3-4DE4-B918-257BB52428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25810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52ABA-F8E3-411C-9195-D1577316D2A8}" type="datetime1">
              <a:rPr lang="ko-KR" altLang="en-US" smtClean="0"/>
              <a:t>2026-06-22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7753D-33D3-4DE4-B918-257BB52428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04474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47B605-4323-62CA-4D75-A8FED7F4E9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4693DC2-ED39-AAB9-4EAE-B4381FC438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D9F744D-2B92-56FC-F625-798EA0BB8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98F1D-BA91-4187-8533-6A2018F40157}" type="datetime1">
              <a:rPr lang="ko-KR" altLang="en-US" smtClean="0"/>
              <a:t>2026-06-22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4E73D93-707F-57D1-C7F0-79346FF5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29A8440-4494-F2DD-F835-E0365C1A6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14690-493B-4B3E-91DB-699F09CBD8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15347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4710C5-9569-4183-F158-15B521043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CB913AD-3EAA-5CA6-776A-1F90A99BFA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A840012-07E8-6731-934D-C38642B22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5BA26-696B-4FA3-868F-42D610F6768C}" type="datetime1">
              <a:rPr lang="ko-KR" altLang="en-US" smtClean="0"/>
              <a:t>2026-06-22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064A182-C042-A979-B0D6-45F28980D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DF8DE4A-44A1-C35B-15FB-17C73A41C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14690-493B-4B3E-91DB-699F09CBD8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46379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A024B7-FE44-0E45-DF9F-6144AC687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86652E5-8975-171A-DA2F-03669C67F8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E14F624-8FDB-B2BA-2F67-8BF807D71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BEB65-7B45-4057-8EC6-19CD3BF64D90}" type="datetime1">
              <a:rPr lang="ko-KR" altLang="en-US" smtClean="0"/>
              <a:t>2026-06-22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32C5FD1-E132-9962-5A5E-05428990E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6827D8A-5605-09C4-7461-349A6295A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14690-493B-4B3E-91DB-699F09CBD8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80121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727E50-43AF-D3DF-6B4F-259D7E1B4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4699B56-AE5B-5F7C-83EC-46AA25CFF6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0149624-9865-36B2-A9AC-6AB3249D82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50FAE2A-FD33-F7F4-551C-9AEC0C30D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18932-96FD-4B52-9C59-83E087F8E6AC}" type="datetime1">
              <a:rPr lang="ko-KR" altLang="en-US" smtClean="0"/>
              <a:t>2026-06-22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1E3379A-F0A0-EB74-A219-FF511FF1D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CF1AC51-A116-FC5C-4D89-714F5921C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14690-493B-4B3E-91DB-699F09CBD8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66198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21F4B2-B3D0-BB02-C112-DE9D4AF3B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41F9C48-1DFE-17F6-DAB8-04BFF10E5D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00C145B-F604-92C1-0C2C-26EA16E0F5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A1CD135-A2A7-F477-EDC2-D76B241C47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F1E6A3C-F848-7654-E3FD-97D095634D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E8334C8-F94F-02B2-BF82-D8B286812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1E07A-12F4-4ECE-9405-EBF8A6551431}" type="datetime1">
              <a:rPr lang="ko-KR" altLang="en-US" smtClean="0"/>
              <a:t>2026-06-22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F6D2934-8FD8-BE21-B35E-44EC88404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7913C7E-B933-A974-1FC9-64A0B2205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14690-493B-4B3E-91DB-699F09CBD8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563293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34E836-6D1F-C13F-7396-39580DD83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6DEDC8C-6FC2-68D8-2A88-C00B24405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4BB8F-A6C9-4BA9-A949-A06A4111CE3B}" type="datetime1">
              <a:rPr lang="ko-KR" altLang="en-US" smtClean="0"/>
              <a:t>2026-06-22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0287E3D-716C-F368-3594-14287CDF9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1C879FC-3A31-F700-8931-2EAB0C666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14690-493B-4B3E-91DB-699F09CBD8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383863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6FA156B-00A4-EF6E-A22F-7DC7E96BE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E0811-276B-423F-81CD-5A35C7424D97}" type="datetime1">
              <a:rPr lang="ko-KR" altLang="en-US" smtClean="0"/>
              <a:t>2026-06-22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DE718DB-DB1D-867B-D911-41C87E8A3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7421E66-BC1B-F790-3355-DD0CA64F2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14690-493B-4B3E-91DB-699F09CBD8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299722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9E7B87-3BAC-B1C7-F296-75C73B53B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017E5A9-F9DD-404F-DA81-D30CE79BAC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270D92F-7747-FD6D-3C40-20E2DE1CAE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0BD54DB-51DF-7C42-B9A0-67227EFC5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19317-9191-4210-AE7C-5208CD2DD4DD}" type="datetime1">
              <a:rPr lang="ko-KR" altLang="en-US" smtClean="0"/>
              <a:t>2026-06-22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49F8AAF-523F-4232-AA5C-0E678F58D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07493AC-B686-4964-3BB9-24BD59D2C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14690-493B-4B3E-91DB-699F09CBD8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473807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8F16DB-6E62-68DF-0BD1-5322B951F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1E57BB2-79F8-91C1-6E02-C6765638CE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4022773-E6AD-E9BF-5BD7-638874FA67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6444D7B-F551-5F6B-2ADC-657CC3F78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AA930-387F-4297-88AA-EB30CC424A44}" type="datetime1">
              <a:rPr lang="ko-KR" altLang="en-US" smtClean="0"/>
              <a:t>2026-06-22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ED9A934-0681-FE80-5DC9-EEB63270F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F072F8A-D474-E710-8B94-B545766E2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14690-493B-4B3E-91DB-699F09CBD8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53625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FADF9C-6915-345C-803B-4B4A335D7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8B5B0E9-7E0F-11BD-F6ED-1CC0D50E2C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88DE03-DB79-53CC-E029-CE1544058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EDD14-F7CF-4BA6-AC42-D4C3C89F586C}" type="datetime1">
              <a:rPr lang="ko-KR" altLang="en-US" smtClean="0"/>
              <a:t>2026-06-22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E9AEB4B-88AE-A1DE-79FD-3749D2B04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909A9AF-FAED-6711-C45D-D92D03A2C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14690-493B-4B3E-91DB-699F09CBD8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453848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09977A9-CF86-A5C0-9067-B286652848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4B81815-305C-A838-8D31-86E0775D38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1829E25-5BF8-5368-6257-91DAE1F5E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4D0FF-9CFE-4932-90E4-9E220B9E9B2A}" type="datetime1">
              <a:rPr lang="ko-KR" altLang="en-US" smtClean="0"/>
              <a:t>2026-06-22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1BB7CC7-36D5-6B73-AB12-B8B6429F4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AF3AE57-E58A-1D24-7105-539338082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14690-493B-4B3E-91DB-699F09CBD8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401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21F774-DA95-4AD4-A682-08F75A053250}" type="datetime1">
              <a:rPr lang="ko-KR" altLang="en-US" smtClean="0"/>
              <a:t>2026-06-22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A7753D-33D3-4DE4-B918-257BB52428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1394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61" r:id="rId2"/>
    <p:sldLayoutId id="2147483663" r:id="rId3"/>
    <p:sldLayoutId id="2147483662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6081651-0499-8D34-FA96-00E7E4475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0C9EEA-F73B-DF8F-613C-046201A96C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1FCFBDD-F8AD-5520-1568-B347BEABB7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FFC6AE-FB71-4C7E-AAD4-D04A58C5072D}" type="datetime1">
              <a:rPr lang="ko-KR" altLang="en-US" smtClean="0"/>
              <a:t>2026-06-22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F8F9C89-0B82-0616-1006-50E06252E6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D4D9FE3-0D36-1A96-91FE-778FD3B28A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314690-493B-4B3E-91DB-699F09CBD8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8883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4881C0-87F7-6DD2-2EEC-FBD77E1B4D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sz="3200" spc="5" dirty="0">
                <a:latin typeface="맑은 고딕" panose="020B0503020000020004" pitchFamily="50" charset="-127"/>
                <a:cs typeface="Times New Roman" panose="02020603050405020304" pitchFamily="18" charset="0"/>
              </a:rPr>
              <a:t>Stabilization</a:t>
            </a:r>
            <a:r>
              <a:rPr lang="ko-KR" altLang="en-US" sz="3200" spc="5" dirty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3200" spc="5" dirty="0">
                <a:latin typeface="맑은 고딕" panose="020B0503020000020004" pitchFamily="50" charset="-127"/>
                <a:cs typeface="Times New Roman" panose="02020603050405020304" pitchFamily="18" charset="0"/>
              </a:rPr>
              <a:t>Loop</a:t>
            </a:r>
            <a:endParaRPr lang="ko-KR" altLang="en-US" sz="32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6DB6F75-FC94-92A6-540D-0183BF7414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95840" y="3488028"/>
            <a:ext cx="4552321" cy="307313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10000"/>
              </a:lnSpc>
            </a:pPr>
            <a:r>
              <a:rPr lang="en-US" altLang="ko-KR" sz="23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Final Project of Digital Control</a:t>
            </a: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F4A9B321-5B76-5907-EC11-97C0A015CD4A}"/>
              </a:ext>
            </a:extLst>
          </p:cNvPr>
          <p:cNvSpPr txBox="1">
            <a:spLocks/>
          </p:cNvSpPr>
          <p:nvPr/>
        </p:nvSpPr>
        <p:spPr>
          <a:xfrm>
            <a:off x="2236130" y="4915761"/>
            <a:ext cx="4671739" cy="844273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chemeClr val="bg2">
                    <a:lumMod val="25000"/>
                  </a:schemeClr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                                                   Thanks to</a:t>
            </a:r>
          </a:p>
          <a:p>
            <a:pPr>
              <a:lnSpc>
                <a:spcPct val="150000"/>
              </a:lnSpc>
            </a:pPr>
            <a:r>
              <a:rPr lang="ko-KR" altLang="en-US" sz="1200" dirty="0" err="1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나원상</a:t>
            </a:r>
            <a:endParaRPr lang="en-US" altLang="ko-KR" sz="12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Won-Sang Ra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65EABBB2-8C38-450D-3BEF-EBAAE114B568}"/>
              </a:ext>
            </a:extLst>
          </p:cNvPr>
          <p:cNvSpPr txBox="1">
            <a:spLocks/>
          </p:cNvSpPr>
          <p:nvPr/>
        </p:nvSpPr>
        <p:spPr>
          <a:xfrm>
            <a:off x="1713573" y="4105185"/>
            <a:ext cx="5760000" cy="3454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chemeClr val="bg2">
                    <a:lumMod val="25000"/>
                  </a:schemeClr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  <a:cs typeface="+mj-cs"/>
              </a:defRPr>
            </a:lvl1pPr>
          </a:lstStyle>
          <a:p>
            <a:r>
              <a:rPr lang="ko-KR" altLang="en-US" sz="1800" dirty="0" err="1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오유성</a:t>
            </a:r>
            <a:r>
              <a:rPr lang="en-US" altLang="ko-KR" sz="1800" dirty="0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 (22400448), </a:t>
            </a:r>
            <a:r>
              <a:rPr lang="ko-KR" altLang="en-US" sz="1800" dirty="0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이주영 </a:t>
            </a:r>
            <a:r>
              <a:rPr lang="en-US" altLang="ko-KR" sz="1800" dirty="0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(22200576)</a:t>
            </a:r>
            <a:endParaRPr lang="ko-KR" altLang="en-US" sz="1800" dirty="0">
              <a:solidFill>
                <a:schemeClr val="tx1"/>
              </a:solidFill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6168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662"/>
    </mc:Choice>
    <mc:Fallback xmlns="">
      <p:transition spd="slow" advTm="18662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6B4AC7-1E6A-3CB8-2431-FA66AD0CC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9E173663-FAF9-2F30-FF87-D3C17A0ED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b="1" dirty="0">
                <a:latin typeface="+mn-lt"/>
                <a:ea typeface="나눔스퀘어 Bold" panose="020B0600000101010101" pitchFamily="50" charset="-127"/>
              </a:rPr>
              <a:t>1. Stabilization Loop</a:t>
            </a:r>
            <a:endParaRPr lang="ko-KR" altLang="en-US" b="1" dirty="0">
              <a:latin typeface="+mj-ea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04E5832-C989-272D-498A-4ECFBD974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7753D-33D3-4DE4-B918-257BB52428D1}" type="slidenum">
              <a:rPr lang="ko-KR" altLang="en-US" smtClean="0"/>
              <a:t>2</a:t>
            </a:fld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137569D-03BB-05E7-F795-DF13D85017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325" y="979085"/>
            <a:ext cx="8769350" cy="2045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593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6783"/>
    </mc:Choice>
    <mc:Fallback xmlns="">
      <p:transition spd="slow" advTm="86783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81BDDE-CC77-DF9B-CA4F-BB50F7B70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90C66154-2671-FA19-21B8-589EBF9931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b="1" dirty="0">
                <a:latin typeface="+mn-lt"/>
                <a:ea typeface="나눔스퀘어 Bold" panose="020B0600000101010101" pitchFamily="50" charset="-127"/>
              </a:rPr>
              <a:t>3. Design Procedures</a:t>
            </a:r>
            <a:endParaRPr lang="ko-KR" altLang="en-US" b="1" dirty="0">
              <a:latin typeface="+mn-lt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DAA9AE3C-7D8E-0EAF-6843-149A84F5F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7753D-33D3-4DE4-B918-257BB52428D1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17" name="제목 6">
            <a:extLst>
              <a:ext uri="{FF2B5EF4-FFF2-40B4-BE49-F238E27FC236}">
                <a16:creationId xmlns:a16="http://schemas.microsoft.com/office/drawing/2014/main" id="{1405729D-767E-4E3C-4F2E-A85741AFB3C8}"/>
              </a:ext>
            </a:extLst>
          </p:cNvPr>
          <p:cNvSpPr txBox="1">
            <a:spLocks/>
          </p:cNvSpPr>
          <p:nvPr/>
        </p:nvSpPr>
        <p:spPr>
          <a:xfrm>
            <a:off x="408296" y="3787814"/>
            <a:ext cx="4362450" cy="1351904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 fontScale="975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628650" lvl="1" indent="-171450">
              <a:buFontTx/>
              <a:buChar char="-"/>
            </a:pPr>
            <a:endParaRPr lang="ko-KR" altLang="en-US" sz="1000" b="1" dirty="0">
              <a:latin typeface="+mn-lt"/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CFFD3684-FB64-7BD7-3A0D-0CEFDB767D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96" y="992823"/>
            <a:ext cx="8179027" cy="2794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214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6783"/>
    </mc:Choice>
    <mc:Fallback xmlns="">
      <p:transition spd="slow" advTm="86783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29A43-5468-F1E2-4243-61974F519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0E123341-50E7-A23D-802C-D39F6E0A5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b="1" dirty="0">
                <a:latin typeface="+mn-lt"/>
                <a:ea typeface="나눔스퀘어 Bold" panose="020B0600000101010101" pitchFamily="50" charset="-127"/>
              </a:rPr>
              <a:t>4. Design Procedures</a:t>
            </a:r>
            <a:endParaRPr lang="ko-KR" altLang="en-US" b="1" dirty="0">
              <a:latin typeface="+mn-lt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C23D141-E584-FCD2-894F-D2F3362D4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7753D-33D3-4DE4-B918-257BB52428D1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17" name="제목 6">
            <a:extLst>
              <a:ext uri="{FF2B5EF4-FFF2-40B4-BE49-F238E27FC236}">
                <a16:creationId xmlns:a16="http://schemas.microsoft.com/office/drawing/2014/main" id="{FAB75593-3034-C21B-367B-B36B321C7E13}"/>
              </a:ext>
            </a:extLst>
          </p:cNvPr>
          <p:cNvSpPr txBox="1">
            <a:spLocks/>
          </p:cNvSpPr>
          <p:nvPr/>
        </p:nvSpPr>
        <p:spPr>
          <a:xfrm>
            <a:off x="395596" y="3768764"/>
            <a:ext cx="4362450" cy="1351904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 fontScale="975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628650" lvl="1" indent="-171450">
              <a:buFontTx/>
              <a:buChar char="-"/>
            </a:pPr>
            <a:endParaRPr lang="ko-KR" altLang="en-US" sz="1000" b="1" dirty="0"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54DE6ADD-A0A3-06A5-FCBD-210335CA544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99723315"/>
                  </p:ext>
                </p:extLst>
              </p:nvPr>
            </p:nvGraphicFramePr>
            <p:xfrm>
              <a:off x="154941" y="1247453"/>
              <a:ext cx="8927187" cy="280706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1920240">
                      <a:extLst>
                        <a:ext uri="{9D8B030D-6E8A-4147-A177-3AD203B41FA5}">
                          <a16:colId xmlns:a16="http://schemas.microsoft.com/office/drawing/2014/main" val="1253665891"/>
                        </a:ext>
                      </a:extLst>
                    </a:gridCol>
                    <a:gridCol w="1822873">
                      <a:extLst>
                        <a:ext uri="{9D8B030D-6E8A-4147-A177-3AD203B41FA5}">
                          <a16:colId xmlns:a16="http://schemas.microsoft.com/office/drawing/2014/main" val="1068100870"/>
                        </a:ext>
                      </a:extLst>
                    </a:gridCol>
                    <a:gridCol w="1039706">
                      <a:extLst>
                        <a:ext uri="{9D8B030D-6E8A-4147-A177-3AD203B41FA5}">
                          <a16:colId xmlns:a16="http://schemas.microsoft.com/office/drawing/2014/main" val="54542897"/>
                        </a:ext>
                      </a:extLst>
                    </a:gridCol>
                    <a:gridCol w="1431650">
                      <a:extLst>
                        <a:ext uri="{9D8B030D-6E8A-4147-A177-3AD203B41FA5}">
                          <a16:colId xmlns:a16="http://schemas.microsoft.com/office/drawing/2014/main" val="557469793"/>
                        </a:ext>
                      </a:extLst>
                    </a:gridCol>
                    <a:gridCol w="1240365">
                      <a:extLst>
                        <a:ext uri="{9D8B030D-6E8A-4147-A177-3AD203B41FA5}">
                          <a16:colId xmlns:a16="http://schemas.microsoft.com/office/drawing/2014/main" val="1477586229"/>
                        </a:ext>
                      </a:extLst>
                    </a:gridCol>
                    <a:gridCol w="1472353">
                      <a:extLst>
                        <a:ext uri="{9D8B030D-6E8A-4147-A177-3AD203B41FA5}">
                          <a16:colId xmlns:a16="http://schemas.microsoft.com/office/drawing/2014/main" val="3247568034"/>
                        </a:ext>
                      </a:extLst>
                    </a:gridCol>
                  </a:tblGrid>
                  <a:tr h="561412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  <m:t>𝑮</m:t>
                                    </m:r>
                                  </m:e>
                                  <m:sub>
                                    <m: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  <m:t>𝒄</m:t>
                                    </m:r>
                                  </m:sub>
                                </m:sSub>
                                <m:r>
                                  <a:rPr lang="en-US" altLang="ko-KR" b="1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ko-KR" b="1" i="1" smtClean="0"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  <m:r>
                                  <a:rPr lang="en-US" altLang="ko-KR" b="1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e>
                                  <m:sub>
                                    <m: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  <m:t>𝒄𝒍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  <m:t>𝑵</m:t>
                                    </m:r>
                                  </m:e>
                                  <m:sub>
                                    <m: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  <m:t>𝑪𝑳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ko-KR" altLang="en-US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b="1" i="1" smtClean="0">
                                            <a:latin typeface="Cambria Math" panose="02040503050406030204" pitchFamily="18" charset="0"/>
                                          </a:rPr>
                                          <m:t>𝑷</m:t>
                                        </m:r>
                                        <m:d>
                                          <m:dPr>
                                            <m:ctrlPr>
                                              <a:rPr lang="en-US" altLang="ko-KR" b="1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altLang="ko-KR" b="1" i="1" smtClean="0">
                                                <a:latin typeface="Cambria Math" panose="02040503050406030204" pitchFamily="18" charset="0"/>
                                              </a:rPr>
                                              <m:t>𝒋</m:t>
                                            </m:r>
                                            <m:r>
                                              <a:rPr lang="en-US" altLang="ko-KR" b="1" i="1" smtClean="0">
                                                <a:latin typeface="Cambria Math" panose="02040503050406030204" pitchFamily="18" charset="0"/>
                                              </a:rPr>
                                              <m:t>𝝎</m:t>
                                            </m:r>
                                          </m:e>
                                        </m:d>
                                      </m:e>
                                    </m:d>
                                  </m:e>
                                  <m:sub>
                                    <m: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  <m:t>𝝎</m:t>
                                    </m:r>
                                    <m: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ko-KR" altLang="en-US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b="1" i="1" smtClean="0">
                                            <a:latin typeface="Cambria Math" panose="02040503050406030204" pitchFamily="18" charset="0"/>
                                          </a:rPr>
                                          <m:t>𝑷</m:t>
                                        </m:r>
                                        <m:d>
                                          <m:dPr>
                                            <m:ctrlPr>
                                              <a:rPr lang="en-US" altLang="ko-KR" b="1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altLang="ko-KR" b="1" i="1" smtClean="0">
                                                <a:latin typeface="Cambria Math" panose="02040503050406030204" pitchFamily="18" charset="0"/>
                                              </a:rPr>
                                              <m:t>𝒋</m:t>
                                            </m:r>
                                            <m:r>
                                              <a:rPr lang="en-US" altLang="ko-KR" b="1" i="1" smtClean="0">
                                                <a:latin typeface="Cambria Math" panose="02040503050406030204" pitchFamily="18" charset="0"/>
                                              </a:rPr>
                                              <m:t>𝝎</m:t>
                                            </m:r>
                                          </m:e>
                                        </m:d>
                                      </m:e>
                                    </m:d>
                                  </m:e>
                                  <m:sub>
                                    <m: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  <m:t>𝝎</m:t>
                                    </m:r>
                                    <m: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  <m:t>=∞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ko-KR" altLang="en-US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b="1" i="1" smtClean="0">
                                            <a:latin typeface="Cambria Math" panose="02040503050406030204" pitchFamily="18" charset="0"/>
                                          </a:rPr>
                                          <m:t>𝑷</m:t>
                                        </m:r>
                                        <m:d>
                                          <m:dPr>
                                            <m:ctrlPr>
                                              <a:rPr lang="en-US" altLang="ko-KR" b="1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altLang="ko-KR" b="1" i="1" smtClean="0">
                                                <a:latin typeface="Cambria Math" panose="02040503050406030204" pitchFamily="18" charset="0"/>
                                              </a:rPr>
                                              <m:t>𝒋</m:t>
                                            </m:r>
                                            <m:r>
                                              <a:rPr lang="en-US" altLang="ko-KR" b="1" i="1" smtClean="0">
                                                <a:latin typeface="Cambria Math" panose="02040503050406030204" pitchFamily="18" charset="0"/>
                                              </a:rPr>
                                              <m:t>𝝎</m:t>
                                            </m:r>
                                          </m:e>
                                        </m:d>
                                      </m:e>
                                    </m:d>
                                  </m:e>
                                  <m:sub>
                                    <m: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  <m:t>𝝎</m:t>
                                    </m:r>
                                    <m: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sSub>
                                      <m:sSubPr>
                                        <m:ctrlPr>
                                          <a:rPr lang="en-US" altLang="ko-KR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b="1" i="1" smtClean="0">
                                            <a:latin typeface="Cambria Math" panose="02040503050406030204" pitchFamily="18" charset="0"/>
                                          </a:rPr>
                                          <m:t>𝝎</m:t>
                                        </m:r>
                                      </m:e>
                                      <m:sub>
                                        <m:r>
                                          <a:rPr lang="en-US" altLang="ko-KR" b="1" i="1" smtClean="0">
                                            <a:latin typeface="Cambria Math" panose="02040503050406030204" pitchFamily="18" charset="0"/>
                                          </a:rPr>
                                          <m:t>𝒎𝒂𝒙</m:t>
                                        </m:r>
                                      </m:sub>
                                    </m:sSub>
                                  </m:sub>
                                </m:sSub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125959291"/>
                      </a:ext>
                    </a:extLst>
                  </a:tr>
                  <a:tr h="561412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altLang="ko-KR" sz="1200" b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+(1+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−(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+1)</m:t>
                                </m:r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ko-KR" sz="12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sz="1200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ko-KR" sz="1200" b="0" i="1" dirty="0" smtClean="0">
                                        <a:latin typeface="Cambria Math" panose="02040503050406030204" pitchFamily="18" charset="0"/>
                                      </a:rPr>
                                      <m:t>1+</m:t>
                                    </m:r>
                                    <m:sSub>
                                      <m:sSubPr>
                                        <m:ctrlPr>
                                          <a:rPr lang="en-US" altLang="ko-KR" sz="1200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i="1" dirty="0" smtClean="0">
                                            <a:latin typeface="Cambria Math" panose="02040503050406030204" pitchFamily="18" charset="0"/>
                                          </a:rPr>
                                          <m:t>𝐾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i="1" dirty="0" smtClean="0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ko-KR" sz="1200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i="1" dirty="0" smtClean="0">
                                            <a:latin typeface="Cambria Math" panose="02040503050406030204" pitchFamily="18" charset="0"/>
                                          </a:rPr>
                                          <m:t>𝐾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i="1" dirty="0" smtClean="0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</m:den>
                                </m:f>
                              </m:oMath>
                            </m:oMathPara>
                          </a14:m>
                          <a:endParaRPr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1</a:t>
                          </a:r>
                          <a:endParaRPr lang="ko-KR" alt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843989149"/>
                      </a:ext>
                    </a:extLst>
                  </a:tr>
                  <a:tr h="561412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sub>
                                </m:sSub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sub>
                                </m:sSub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+(1+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−(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+1)</m:t>
                                </m:r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ko-KR" sz="12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sz="1200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ko-KR" sz="1200" b="0" i="1" dirty="0" smtClean="0">
                                        <a:latin typeface="Cambria Math" panose="02040503050406030204" pitchFamily="18" charset="0"/>
                                      </a:rPr>
                                      <m:t>1+</m:t>
                                    </m:r>
                                    <m:sSub>
                                      <m:sSubPr>
                                        <m:ctrlPr>
                                          <a:rPr lang="en-US" altLang="ko-KR" sz="1200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i="1" dirty="0" smtClean="0">
                                            <a:latin typeface="Cambria Math" panose="02040503050406030204" pitchFamily="18" charset="0"/>
                                          </a:rPr>
                                          <m:t>𝐾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i="1" dirty="0" smtClean="0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ko-KR" sz="1200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i="1" dirty="0" smtClean="0">
                                            <a:latin typeface="Cambria Math" panose="02040503050406030204" pitchFamily="18" charset="0"/>
                                          </a:rPr>
                                          <m:t>𝐾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i="1" dirty="0" smtClean="0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</m:den>
                                </m:f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𝜏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𝜏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𝐾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𝐾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</m:sub>
                                    </m:sSub>
                                  </m:den>
                                </m:f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61365978"/>
                      </a:ext>
                    </a:extLst>
                  </a:tr>
                  <a:tr h="561412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sub>
                                </m:sSub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sub>
                                </m:sSub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  <m:sSup>
                                  <m:sSup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p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+(1+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+1)</m:t>
                                </m:r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0</a:t>
                          </a:r>
                          <a:endParaRPr lang="ko-KR" alt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1</a:t>
                          </a:r>
                          <a:endParaRPr lang="ko-KR" alt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876969310"/>
                      </a:ext>
                    </a:extLst>
                  </a:tr>
                  <a:tr h="561412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sub>
                                </m:sSub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sub>
                                </m:sSub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sub>
                                </m:sSub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b>
                                      <m:sSub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𝜏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𝐾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𝐾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</m:sub>
                                    </m:s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p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d>
                                  <m:d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1+</m:t>
                                    </m:r>
                                    <m:sSub>
                                      <m:sSub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𝐾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𝐾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+1)</m:t>
                                </m:r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0</a:t>
                          </a:r>
                          <a:endParaRPr lang="ko-KR" alt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1+</m:t>
                                    </m:r>
                                    <m:sSub>
                                      <m:sSub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𝐾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𝐾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sub>
                                    </m:sSub>
                                  </m:den>
                                </m:f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en-US" altLang="ko-KR" sz="1200" b="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2698788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54DE6ADD-A0A3-06A5-FCBD-210335CA544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99723315"/>
                  </p:ext>
                </p:extLst>
              </p:nvPr>
            </p:nvGraphicFramePr>
            <p:xfrm>
              <a:off x="154941" y="1247453"/>
              <a:ext cx="8927187" cy="280706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1920240">
                      <a:extLst>
                        <a:ext uri="{9D8B030D-6E8A-4147-A177-3AD203B41FA5}">
                          <a16:colId xmlns:a16="http://schemas.microsoft.com/office/drawing/2014/main" val="1253665891"/>
                        </a:ext>
                      </a:extLst>
                    </a:gridCol>
                    <a:gridCol w="1822873">
                      <a:extLst>
                        <a:ext uri="{9D8B030D-6E8A-4147-A177-3AD203B41FA5}">
                          <a16:colId xmlns:a16="http://schemas.microsoft.com/office/drawing/2014/main" val="1068100870"/>
                        </a:ext>
                      </a:extLst>
                    </a:gridCol>
                    <a:gridCol w="1039706">
                      <a:extLst>
                        <a:ext uri="{9D8B030D-6E8A-4147-A177-3AD203B41FA5}">
                          <a16:colId xmlns:a16="http://schemas.microsoft.com/office/drawing/2014/main" val="54542897"/>
                        </a:ext>
                      </a:extLst>
                    </a:gridCol>
                    <a:gridCol w="1431650">
                      <a:extLst>
                        <a:ext uri="{9D8B030D-6E8A-4147-A177-3AD203B41FA5}">
                          <a16:colId xmlns:a16="http://schemas.microsoft.com/office/drawing/2014/main" val="557469793"/>
                        </a:ext>
                      </a:extLst>
                    </a:gridCol>
                    <a:gridCol w="1240365">
                      <a:extLst>
                        <a:ext uri="{9D8B030D-6E8A-4147-A177-3AD203B41FA5}">
                          <a16:colId xmlns:a16="http://schemas.microsoft.com/office/drawing/2014/main" val="1477586229"/>
                        </a:ext>
                      </a:extLst>
                    </a:gridCol>
                    <a:gridCol w="1472353">
                      <a:extLst>
                        <a:ext uri="{9D8B030D-6E8A-4147-A177-3AD203B41FA5}">
                          <a16:colId xmlns:a16="http://schemas.microsoft.com/office/drawing/2014/main" val="3247568034"/>
                        </a:ext>
                      </a:extLst>
                    </a:gridCol>
                  </a:tblGrid>
                  <a:tr h="561412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17" t="-1087" r="-366667" b="-5021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5686" t="-1087" r="-286288" b="-5021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59649" t="-1087" r="-400585" b="-5021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34468" t="-1087" r="-191489" b="-5021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02956" t="-1087" r="-121675" b="-5021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05785" t="-1087" r="-2066" b="-50217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25959291"/>
                      </a:ext>
                    </a:extLst>
                  </a:tr>
                  <a:tr h="561412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17" t="-100000" r="-366667" b="-3967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5686" t="-100000" r="-286288" b="-3967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59649" t="-100000" r="-400585" b="-3967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34468" t="-100000" r="-191489" b="-3967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1</a:t>
                          </a:r>
                          <a:endParaRPr lang="ko-KR" alt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843989149"/>
                      </a:ext>
                    </a:extLst>
                  </a:tr>
                  <a:tr h="561412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17" t="-202174" r="-366667" b="-3010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5686" t="-202174" r="-286288" b="-3010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59649" t="-202174" r="-400585" b="-3010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34468" t="-202174" r="-191489" b="-3010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02956" t="-202174" r="-121675" b="-3010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61365978"/>
                      </a:ext>
                    </a:extLst>
                  </a:tr>
                  <a:tr h="561412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17" t="-298925" r="-366667" b="-1978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5686" t="-298925" r="-286288" b="-1978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59649" t="-298925" r="-400585" b="-1978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0</a:t>
                          </a:r>
                          <a:endParaRPr lang="ko-KR" alt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1</a:t>
                          </a:r>
                          <a:endParaRPr lang="ko-KR" alt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876969310"/>
                      </a:ext>
                    </a:extLst>
                  </a:tr>
                  <a:tr h="561412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17" t="-403261" r="-366667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5686" t="-403261" r="-286288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59649" t="-403261" r="-400585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0</a:t>
                          </a:r>
                          <a:endParaRPr lang="ko-KR" alt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02956" t="-403261" r="-121675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en-US" altLang="ko-KR" sz="1200" b="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2698788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5994809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6783"/>
    </mc:Choice>
    <mc:Fallback xmlns="">
      <p:transition spd="slow" advTm="86783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BDB34B-D79E-2AF3-E6F0-F29796749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Overall consideration: 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내용 개체 틀 3">
                <a:extLst>
                  <a:ext uri="{FF2B5EF4-FFF2-40B4-BE49-F238E27FC236}">
                    <a16:creationId xmlns:a16="http://schemas.microsoft.com/office/drawing/2014/main" id="{759A6DF1-E915-EC75-C572-A5AE890ABFAC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822190" y="1825625"/>
                <a:ext cx="3886200" cy="4351338"/>
              </a:xfrm>
            </p:spPr>
            <p:txBody>
              <a:bodyPr>
                <a:normAutofit fontScale="92500" lnSpcReduction="10000"/>
              </a:bodyPr>
              <a:lstStyle/>
              <a:p>
                <a:pPr algn="just"/>
                <a:r>
                  <a:rPr lang="en-US" altLang="ko-K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 cannot control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𝑠𝑠</m:t>
                        </m:r>
                      </m:sub>
                    </m:sSub>
                  </m:oMath>
                </a14:m>
                <a:r>
                  <a:rPr lang="en-US" altLang="ko-K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when </a:t>
                </a:r>
                <a:r>
                  <a:rPr lang="el-GR" altLang="ko-K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ω</a:t>
                </a:r>
                <a:r>
                  <a:rPr lang="en-US" altLang="ko-K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increases. (P controller X)</a:t>
                </a:r>
              </a:p>
              <a:p>
                <a:pPr algn="just"/>
                <a:endParaRPr lang="en-US" altLang="ko-KR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n-US" altLang="ko-K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PI controller issues with Phase margin which lags the open loop with additional 90[deg] due to the integrating factor. (PI controller X)</a:t>
                </a:r>
              </a:p>
              <a:p>
                <a:pPr algn="just"/>
                <a:endParaRPr lang="en-US" altLang="ko-KR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n-US" altLang="ko-K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PD/PID would be the options: </a:t>
                </a:r>
              </a:p>
              <a:p>
                <a:pPr marL="0" indent="0" algn="just">
                  <a:buNone/>
                </a:pPr>
                <a:r>
                  <a:rPr lang="en-US" altLang="ko-K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Note, PID controller reduces the  DC gain to 0, however it lags the system as well. </a:t>
                </a:r>
              </a:p>
              <a:p>
                <a:pPr marL="0" indent="0" algn="just">
                  <a:buNone/>
                </a:pPr>
                <a:endParaRPr lang="en-US" altLang="ko-KR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n-US" altLang="ko-K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 we chose PD controller. </a:t>
                </a:r>
                <a:endParaRPr lang="ko-KR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내용 개체 틀 3">
                <a:extLst>
                  <a:ext uri="{FF2B5EF4-FFF2-40B4-BE49-F238E27FC236}">
                    <a16:creationId xmlns:a16="http://schemas.microsoft.com/office/drawing/2014/main" id="{759A6DF1-E915-EC75-C572-A5AE890ABF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822190" y="1825625"/>
                <a:ext cx="3886200" cy="4351338"/>
              </a:xfrm>
              <a:blipFill>
                <a:blip r:embed="rId2"/>
                <a:stretch>
                  <a:fillRect l="-1411" t="-1961" r="-14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FC17427-7B24-E50E-71A5-B7484E7E2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7753D-33D3-4DE4-B918-257BB52428D1}" type="slidenum">
              <a:rPr lang="ko-KR" altLang="en-US" smtClean="0"/>
              <a:t>5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표 9">
                <a:extLst>
                  <a:ext uri="{FF2B5EF4-FFF2-40B4-BE49-F238E27FC236}">
                    <a16:creationId xmlns:a16="http://schemas.microsoft.com/office/drawing/2014/main" id="{8C0D1EFD-165E-E54B-7A0D-89A8173909F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19674417"/>
                  </p:ext>
                </p:extLst>
              </p:nvPr>
            </p:nvGraphicFramePr>
            <p:xfrm>
              <a:off x="121350" y="2328820"/>
              <a:ext cx="1920240" cy="280706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1920240">
                      <a:extLst>
                        <a:ext uri="{9D8B030D-6E8A-4147-A177-3AD203B41FA5}">
                          <a16:colId xmlns:a16="http://schemas.microsoft.com/office/drawing/2014/main" val="3099010962"/>
                        </a:ext>
                      </a:extLst>
                    </a:gridCol>
                  </a:tblGrid>
                  <a:tr h="561412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  <m:t>𝑮</m:t>
                                    </m:r>
                                  </m:e>
                                  <m:sub>
                                    <m: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  <m:t>𝒄</m:t>
                                    </m:r>
                                  </m:sub>
                                </m:sSub>
                                <m:r>
                                  <a:rPr lang="en-US" altLang="ko-KR" b="1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ko-KR" b="1" i="1" smtClean="0"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  <m:r>
                                  <a:rPr lang="en-US" altLang="ko-KR" b="1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734803682"/>
                      </a:ext>
                    </a:extLst>
                  </a:tr>
                  <a:tr h="561412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altLang="ko-KR" sz="1200" b="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77036790"/>
                      </a:ext>
                    </a:extLst>
                  </a:tr>
                  <a:tr h="561412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sub>
                                </m:sSub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108187832"/>
                      </a:ext>
                    </a:extLst>
                  </a:tr>
                  <a:tr h="561412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sub>
                                </m:sSub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sub>
                                </m:sSub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48465657"/>
                      </a:ext>
                    </a:extLst>
                  </a:tr>
                  <a:tr h="561412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sub>
                                </m:sSub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sub>
                                </m:sSub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sub>
                                </m:sSub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25609613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표 9">
                <a:extLst>
                  <a:ext uri="{FF2B5EF4-FFF2-40B4-BE49-F238E27FC236}">
                    <a16:creationId xmlns:a16="http://schemas.microsoft.com/office/drawing/2014/main" id="{8C0D1EFD-165E-E54B-7A0D-89A8173909F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19674417"/>
                  </p:ext>
                </p:extLst>
              </p:nvPr>
            </p:nvGraphicFramePr>
            <p:xfrm>
              <a:off x="121350" y="2328820"/>
              <a:ext cx="1920240" cy="280706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1920240">
                      <a:extLst>
                        <a:ext uri="{9D8B030D-6E8A-4147-A177-3AD203B41FA5}">
                          <a16:colId xmlns:a16="http://schemas.microsoft.com/office/drawing/2014/main" val="3099010962"/>
                        </a:ext>
                      </a:extLst>
                    </a:gridCol>
                  </a:tblGrid>
                  <a:tr h="561412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16" t="-2174" r="-1582" b="-40326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34803682"/>
                      </a:ext>
                    </a:extLst>
                  </a:tr>
                  <a:tr h="561412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16" t="-102174" r="-1582" b="-30326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77036790"/>
                      </a:ext>
                    </a:extLst>
                  </a:tr>
                  <a:tr h="561412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16" t="-200000" r="-1582" b="-2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08187832"/>
                      </a:ext>
                    </a:extLst>
                  </a:tr>
                  <a:tr h="561412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16" t="-303261" r="-1582" b="-10217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48465657"/>
                      </a:ext>
                    </a:extLst>
                  </a:tr>
                  <a:tr h="561412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16" t="-403261" r="-1582" b="-217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5609613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표 10">
                <a:extLst>
                  <a:ext uri="{FF2B5EF4-FFF2-40B4-BE49-F238E27FC236}">
                    <a16:creationId xmlns:a16="http://schemas.microsoft.com/office/drawing/2014/main" id="{D55F5C3A-BE19-E765-9D55-4D08695DB87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45461917"/>
                  </p:ext>
                </p:extLst>
              </p:nvPr>
            </p:nvGraphicFramePr>
            <p:xfrm>
              <a:off x="2041590" y="2328820"/>
              <a:ext cx="2672015" cy="280706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1431650">
                      <a:extLst>
                        <a:ext uri="{9D8B030D-6E8A-4147-A177-3AD203B41FA5}">
                          <a16:colId xmlns:a16="http://schemas.microsoft.com/office/drawing/2014/main" val="1284911443"/>
                        </a:ext>
                      </a:extLst>
                    </a:gridCol>
                    <a:gridCol w="1240365">
                      <a:extLst>
                        <a:ext uri="{9D8B030D-6E8A-4147-A177-3AD203B41FA5}">
                          <a16:colId xmlns:a16="http://schemas.microsoft.com/office/drawing/2014/main" val="4079318025"/>
                        </a:ext>
                      </a:extLst>
                    </a:gridCol>
                  </a:tblGrid>
                  <a:tr h="561412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ko-KR" altLang="en-US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b="1" i="1" smtClean="0">
                                            <a:latin typeface="Cambria Math" panose="02040503050406030204" pitchFamily="18" charset="0"/>
                                          </a:rPr>
                                          <m:t>𝑷</m:t>
                                        </m:r>
                                        <m:d>
                                          <m:dPr>
                                            <m:ctrlPr>
                                              <a:rPr lang="en-US" altLang="ko-KR" b="1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altLang="ko-KR" b="1" i="1" smtClean="0">
                                                <a:latin typeface="Cambria Math" panose="02040503050406030204" pitchFamily="18" charset="0"/>
                                              </a:rPr>
                                              <m:t>𝒋</m:t>
                                            </m:r>
                                            <m:r>
                                              <a:rPr lang="en-US" altLang="ko-KR" b="1" i="1" smtClean="0">
                                                <a:latin typeface="Cambria Math" panose="02040503050406030204" pitchFamily="18" charset="0"/>
                                              </a:rPr>
                                              <m:t>𝝎</m:t>
                                            </m:r>
                                          </m:e>
                                        </m:d>
                                      </m:e>
                                    </m:d>
                                  </m:e>
                                  <m:sub>
                                    <m: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  <m:t>𝝎</m:t>
                                    </m:r>
                                    <m: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ko-KR" altLang="en-US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b="1" i="1" smtClean="0">
                                            <a:latin typeface="Cambria Math" panose="02040503050406030204" pitchFamily="18" charset="0"/>
                                          </a:rPr>
                                          <m:t>𝑷</m:t>
                                        </m:r>
                                        <m:d>
                                          <m:dPr>
                                            <m:ctrlPr>
                                              <a:rPr lang="en-US" altLang="ko-KR" b="1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altLang="ko-KR" b="1" i="1" smtClean="0">
                                                <a:latin typeface="Cambria Math" panose="02040503050406030204" pitchFamily="18" charset="0"/>
                                              </a:rPr>
                                              <m:t>𝒋</m:t>
                                            </m:r>
                                            <m:r>
                                              <a:rPr lang="en-US" altLang="ko-KR" b="1" i="1" smtClean="0">
                                                <a:latin typeface="Cambria Math" panose="02040503050406030204" pitchFamily="18" charset="0"/>
                                              </a:rPr>
                                              <m:t>𝝎</m:t>
                                            </m:r>
                                          </m:e>
                                        </m:d>
                                      </m:e>
                                    </m:d>
                                  </m:e>
                                  <m:sub>
                                    <m: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  <m:t>𝝎</m:t>
                                    </m:r>
                                    <m: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  <m:t>=∞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35391829"/>
                      </a:ext>
                    </a:extLst>
                  </a:tr>
                  <a:tr h="561412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ko-KR" sz="12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sz="1200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ko-KR" sz="1200" b="0" i="1" dirty="0" smtClean="0">
                                        <a:latin typeface="Cambria Math" panose="02040503050406030204" pitchFamily="18" charset="0"/>
                                      </a:rPr>
                                      <m:t>1+</m:t>
                                    </m:r>
                                    <m:sSub>
                                      <m:sSubPr>
                                        <m:ctrlPr>
                                          <a:rPr lang="en-US" altLang="ko-KR" sz="1200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i="1" dirty="0" smtClean="0">
                                            <a:latin typeface="Cambria Math" panose="02040503050406030204" pitchFamily="18" charset="0"/>
                                          </a:rPr>
                                          <m:t>𝐾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i="1" dirty="0" smtClean="0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ko-KR" sz="1200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i="1" dirty="0" smtClean="0">
                                            <a:latin typeface="Cambria Math" panose="02040503050406030204" pitchFamily="18" charset="0"/>
                                          </a:rPr>
                                          <m:t>𝐾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i="1" dirty="0" smtClean="0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</m:den>
                                </m:f>
                              </m:oMath>
                            </m:oMathPara>
                          </a14:m>
                          <a:endParaRPr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1</a:t>
                          </a:r>
                          <a:endParaRPr lang="ko-KR" altLang="en-US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86809892"/>
                      </a:ext>
                    </a:extLst>
                  </a:tr>
                  <a:tr h="561412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ko-KR" sz="12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sz="1200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ko-KR" sz="1200" b="0" i="1" dirty="0" smtClean="0">
                                        <a:latin typeface="Cambria Math" panose="02040503050406030204" pitchFamily="18" charset="0"/>
                                      </a:rPr>
                                      <m:t>1+</m:t>
                                    </m:r>
                                    <m:sSub>
                                      <m:sSubPr>
                                        <m:ctrlPr>
                                          <a:rPr lang="en-US" altLang="ko-KR" sz="1200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i="1" dirty="0" smtClean="0">
                                            <a:latin typeface="Cambria Math" panose="02040503050406030204" pitchFamily="18" charset="0"/>
                                          </a:rPr>
                                          <m:t>𝐾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i="1" dirty="0" smtClean="0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ko-KR" sz="1200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i="1" dirty="0" smtClean="0">
                                            <a:latin typeface="Cambria Math" panose="02040503050406030204" pitchFamily="18" charset="0"/>
                                          </a:rPr>
                                          <m:t>𝐾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i="1" dirty="0" smtClean="0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</m:den>
                                </m:f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𝜏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𝜏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𝐾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𝐾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</m:sub>
                                    </m:sSub>
                                  </m:den>
                                </m:f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76591386"/>
                      </a:ext>
                    </a:extLst>
                  </a:tr>
                  <a:tr h="561412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0</a:t>
                          </a:r>
                          <a:endParaRPr lang="ko-KR" alt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1</a:t>
                          </a:r>
                          <a:endParaRPr lang="ko-KR" altLang="en-US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915186429"/>
                      </a:ext>
                    </a:extLst>
                  </a:tr>
                  <a:tr h="561412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0</a:t>
                          </a:r>
                          <a:endParaRPr lang="ko-KR" alt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1+</m:t>
                                    </m:r>
                                    <m:sSub>
                                      <m:sSub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𝐾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𝐾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sub>
                                    </m:sSub>
                                  </m:den>
                                </m:f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01008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표 10">
                <a:extLst>
                  <a:ext uri="{FF2B5EF4-FFF2-40B4-BE49-F238E27FC236}">
                    <a16:creationId xmlns:a16="http://schemas.microsoft.com/office/drawing/2014/main" id="{D55F5C3A-BE19-E765-9D55-4D08695DB87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45461917"/>
                  </p:ext>
                </p:extLst>
              </p:nvPr>
            </p:nvGraphicFramePr>
            <p:xfrm>
              <a:off x="2041590" y="2328820"/>
              <a:ext cx="2672015" cy="280706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1431650">
                      <a:extLst>
                        <a:ext uri="{9D8B030D-6E8A-4147-A177-3AD203B41FA5}">
                          <a16:colId xmlns:a16="http://schemas.microsoft.com/office/drawing/2014/main" val="1284911443"/>
                        </a:ext>
                      </a:extLst>
                    </a:gridCol>
                    <a:gridCol w="1240365">
                      <a:extLst>
                        <a:ext uri="{9D8B030D-6E8A-4147-A177-3AD203B41FA5}">
                          <a16:colId xmlns:a16="http://schemas.microsoft.com/office/drawing/2014/main" val="4079318025"/>
                        </a:ext>
                      </a:extLst>
                    </a:gridCol>
                  </a:tblGrid>
                  <a:tr h="561412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424" t="-2174" r="-88136" b="-4032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16176" t="-2174" r="-1961" b="-40326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35391829"/>
                      </a:ext>
                    </a:extLst>
                  </a:tr>
                  <a:tr h="561412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424" t="-102174" r="-88136" b="-3032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1</a:t>
                          </a:r>
                          <a:endParaRPr lang="ko-KR" altLang="en-US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86809892"/>
                      </a:ext>
                    </a:extLst>
                  </a:tr>
                  <a:tr h="561412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424" t="-200000" r="-88136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16176" t="-200000" r="-1961" b="-2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76591386"/>
                      </a:ext>
                    </a:extLst>
                  </a:tr>
                  <a:tr h="561412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0</a:t>
                          </a:r>
                          <a:endParaRPr lang="ko-KR" alt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1</a:t>
                          </a:r>
                          <a:endParaRPr lang="ko-KR" altLang="en-US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915186429"/>
                      </a:ext>
                    </a:extLst>
                  </a:tr>
                  <a:tr h="561412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0</a:t>
                          </a:r>
                          <a:endParaRPr lang="ko-KR" alt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16176" t="-403261" r="-1961" b="-217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0100800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375455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에스코어드림">
      <a:majorFont>
        <a:latin typeface="Calibri Light"/>
        <a:ea typeface="에스코어 드림 6 Bold"/>
        <a:cs typeface=""/>
      </a:majorFont>
      <a:minorFont>
        <a:latin typeface="Calibri"/>
        <a:ea typeface="에스코어 드림 4 Regular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00cfd5d-5799-4231-b04c-96401190256d" xsi:nil="true"/>
    <lcf76f155ced4ddcb4097134ff3c332f xmlns="ecb78d4e-e55c-4e7d-8ea6-0e0f2bb207af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C5FF92F0B5313546897FC90F31853BBC" ma:contentTypeVersion="17" ma:contentTypeDescription="새 문서를 만듭니다." ma:contentTypeScope="" ma:versionID="01f3bfb803af81975f7724404d7ca805">
  <xsd:schema xmlns:xsd="http://www.w3.org/2001/XMLSchema" xmlns:xs="http://www.w3.org/2001/XMLSchema" xmlns:p="http://schemas.microsoft.com/office/2006/metadata/properties" xmlns:ns2="400cfd5d-5799-4231-b04c-96401190256d" xmlns:ns3="ecb78d4e-e55c-4e7d-8ea6-0e0f2bb207af" targetNamespace="http://schemas.microsoft.com/office/2006/metadata/properties" ma:root="true" ma:fieldsID="efa3055e76958559751629e0ee17becc" ns2:_="" ns3:_="">
    <xsd:import namespace="400cfd5d-5799-4231-b04c-96401190256d"/>
    <xsd:import namespace="ecb78d4e-e55c-4e7d-8ea6-0e0f2bb207af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Location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0cfd5d-5799-4231-b04c-96401190256d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d879ff50-2a45-4012-99bf-9beee4910333}" ma:internalName="TaxCatchAll" ma:showField="CatchAllData" ma:web="400cfd5d-5799-4231-b04c-96401190256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b78d4e-e55c-4e7d-8ea6-0e0f2bb207a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6" nillable="true" ma:displayName="Location" ma:internalName="MediaServiceLocation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이미지 태그" ma:readOnly="false" ma:fieldId="{5cf76f15-5ced-4ddc-b409-7134ff3c332f}" ma:taxonomyMulti="true" ma:sspId="ac8a2166-609b-46cc-bb79-1f8badf8bf2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056FF71-086F-4364-AB42-761853C03E2E}">
  <ds:schemaRefs>
    <ds:schemaRef ds:uri="http://schemas.microsoft.com/office/infopath/2007/PartnerControls"/>
    <ds:schemaRef ds:uri="http://purl.org/dc/dcmitype/"/>
    <ds:schemaRef ds:uri="http://schemas.microsoft.com/office/2006/metadata/properties"/>
    <ds:schemaRef ds:uri="http://www.w3.org/XML/1998/namespace"/>
    <ds:schemaRef ds:uri="http://purl.org/dc/elements/1.1/"/>
    <ds:schemaRef ds:uri="http://schemas.microsoft.com/office/2006/documentManagement/types"/>
    <ds:schemaRef ds:uri="ecb78d4e-e55c-4e7d-8ea6-0e0f2bb207af"/>
    <ds:schemaRef ds:uri="400cfd5d-5799-4231-b04c-96401190256d"/>
    <ds:schemaRef ds:uri="http://purl.org/dc/terms/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83115F24-632F-4EE3-A471-7D91785DFEA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00cfd5d-5799-4231-b04c-96401190256d"/>
    <ds:schemaRef ds:uri="ecb78d4e-e55c-4e7d-8ea6-0e0f2bb207a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AD3A792-1ED0-417E-9576-F1CD3FA67C3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9823</TotalTime>
  <Words>258</Words>
  <Application>Microsoft Office PowerPoint</Application>
  <PresentationFormat>화면 슬라이드 쇼(4:3)</PresentationFormat>
  <Paragraphs>66</Paragraphs>
  <Slides>5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5</vt:i4>
      </vt:variant>
    </vt:vector>
  </HeadingPairs>
  <TitlesOfParts>
    <vt:vector size="15" baseType="lpstr">
      <vt:lpstr>맑은 고딕</vt:lpstr>
      <vt:lpstr>Arial</vt:lpstr>
      <vt:lpstr>Calibri</vt:lpstr>
      <vt:lpstr>Calibri Light</vt:lpstr>
      <vt:lpstr>Cambria Math</vt:lpstr>
      <vt:lpstr>Times New Roman</vt:lpstr>
      <vt:lpstr>Verdana</vt:lpstr>
      <vt:lpstr>Wingdings</vt:lpstr>
      <vt:lpstr>Office 테마</vt:lpstr>
      <vt:lpstr>디자인 사용자 지정</vt:lpstr>
      <vt:lpstr>Stabilization Loop</vt:lpstr>
      <vt:lpstr>1. Stabilization Loop</vt:lpstr>
      <vt:lpstr>3. Design Procedures</vt:lpstr>
      <vt:lpstr>4. Design Procedures</vt:lpstr>
      <vt:lpstr>Overall consideration: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JoHan Jin</dc:creator>
  <cp:lastModifiedBy>이주영/22200576</cp:lastModifiedBy>
  <cp:revision>93</cp:revision>
  <dcterms:created xsi:type="dcterms:W3CDTF">2022-06-23T13:17:03Z</dcterms:created>
  <dcterms:modified xsi:type="dcterms:W3CDTF">2026-06-22T05:20:33Z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0x010100C5FF92F0B5313546897FC90F31853BBC</vt:lpwstr>
  </property>
</Properties>
</file>