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1"/>
  </p:notesMasterIdLst>
  <p:sldIdLst>
    <p:sldId id="336" r:id="rId6"/>
    <p:sldId id="362" r:id="rId7"/>
    <p:sldId id="372" r:id="rId8"/>
    <p:sldId id="380" r:id="rId9"/>
    <p:sldId id="37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776" autoAdjust="0"/>
  </p:normalViewPr>
  <p:slideViewPr>
    <p:cSldViewPr snapToGrid="0">
      <p:cViewPr varScale="1">
        <p:scale>
          <a:sx n="100" d="100"/>
          <a:sy n="100" d="100"/>
        </p:scale>
        <p:origin x="1368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AFB-9CDE-E1BD-684A-E414795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7B2BF-A42A-E135-34D3-33C22F61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1BE4F-92F7-354A-8CA8-A4594F7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39C02-D67D-4217-1F64-BD2685CD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540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FFC6-A7C3-6003-B764-890BE330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AEDA85-0FD6-B95F-37A4-44C234486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FBC6C0-2082-89EE-7936-FD6F4A644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57FA14-5EFF-AFB9-D77A-167B51884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97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F9A62-70D5-8150-A6F9-25118B16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817A98-CE31-5C54-95B3-EA01DD91D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87B07A-A5E9-2695-BF0B-2C9463507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755A9-29ED-2195-8233-B924E57B8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3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32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Stabilization</a:t>
            </a:r>
            <a:r>
              <a:rPr lang="ko-KR" altLang="en-US" sz="32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2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Loop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Project of Digital Control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                     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나원상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Won-Sang Ra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오유성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(22400448),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4AC7-1E6A-3CB8-2431-FA66AD0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E173663-FAF9-2F30-FF87-D3C17A0E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1. Stabilization Loop</a:t>
            </a:r>
            <a:endParaRPr lang="ko-KR" altLang="en-US" b="1" dirty="0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E5832-C989-272D-498A-4ECFBD97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37569D-03BB-05E7-F795-DF13D850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979085"/>
            <a:ext cx="8769350" cy="204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DDE-CC77-DF9B-CA4F-BB50F7B7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0C66154-2671-FA19-21B8-589EBF99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3. Design Procedures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A9AE3C-7D8E-0EAF-6843-149A84F5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7" name="제목 6">
            <a:extLst>
              <a:ext uri="{FF2B5EF4-FFF2-40B4-BE49-F238E27FC236}">
                <a16:creationId xmlns:a16="http://schemas.microsoft.com/office/drawing/2014/main" id="{1405729D-767E-4E3C-4F2E-A85741AFB3C8}"/>
              </a:ext>
            </a:extLst>
          </p:cNvPr>
          <p:cNvSpPr txBox="1">
            <a:spLocks/>
          </p:cNvSpPr>
          <p:nvPr/>
        </p:nvSpPr>
        <p:spPr>
          <a:xfrm>
            <a:off x="408296" y="3787814"/>
            <a:ext cx="4362450" cy="13519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lvl="1" indent="-171450">
              <a:buFontTx/>
              <a:buChar char="-"/>
            </a:pPr>
            <a:endParaRPr lang="ko-KR" altLang="en-US" sz="1000" b="1" dirty="0">
              <a:latin typeface="+mn-lt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FFD3684-FB64-7BD7-3A0D-0CEFDB767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96" y="992823"/>
            <a:ext cx="8179027" cy="279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1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9A43-5468-F1E2-4243-61974F51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E123341-50E7-A23D-802C-D39F6E0A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4. Design Procedures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C23D141-E584-FCD2-894F-D2F3362D4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7" name="제목 6">
            <a:extLst>
              <a:ext uri="{FF2B5EF4-FFF2-40B4-BE49-F238E27FC236}">
                <a16:creationId xmlns:a16="http://schemas.microsoft.com/office/drawing/2014/main" id="{FAB75593-3034-C21B-367B-B36B321C7E13}"/>
              </a:ext>
            </a:extLst>
          </p:cNvPr>
          <p:cNvSpPr txBox="1">
            <a:spLocks/>
          </p:cNvSpPr>
          <p:nvPr/>
        </p:nvSpPr>
        <p:spPr>
          <a:xfrm>
            <a:off x="395596" y="3768764"/>
            <a:ext cx="4362450" cy="13519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lvl="1" indent="-171450">
              <a:buFontTx/>
              <a:buChar char="-"/>
            </a:pPr>
            <a:endParaRPr lang="ko-KR" altLang="en-US" sz="10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54DE6ADD-A0A3-06A5-FCBD-210335CA5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9723315"/>
                  </p:ext>
                </p:extLst>
              </p:nvPr>
            </p:nvGraphicFramePr>
            <p:xfrm>
              <a:off x="154941" y="1247453"/>
              <a:ext cx="8927187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𝒄𝒍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𝑪𝑳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54DE6ADD-A0A3-06A5-FCBD-210335CA54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9723315"/>
                  </p:ext>
                </p:extLst>
              </p:nvPr>
            </p:nvGraphicFramePr>
            <p:xfrm>
              <a:off x="154941" y="1247453"/>
              <a:ext cx="8927187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087" r="-366667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1087" r="-286288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1087" r="-400585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4468" t="-1087" r="-191489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1087" r="-121675" b="-5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5785" t="-1087" r="-2066" b="-5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00000" r="-366667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100000" r="-286288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100000" r="-400585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4468" t="-100000" r="-191489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02174" r="-366667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202174" r="-286288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202174" r="-400585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4468" t="-202174" r="-191489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202174" r="-121675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98925" r="-366667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298925" r="-286288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298925" r="-400585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403261" r="-366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686" t="-403261" r="-28628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9649" t="-403261" r="-40058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2956" t="-403261" r="-12167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948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DB34B-D79E-2AF3-E6F0-F2979674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Overall consideration: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759A6DF1-E915-EC75-C572-A5AE890ABFA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822190" y="1825625"/>
                <a:ext cx="38862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cannot control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:r>
                  <a:rPr lang="el-GR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increases. (P controller X)</a:t>
                </a:r>
              </a:p>
              <a:p>
                <a:pPr algn="just"/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 controller issues with Phase margin which lags the open loop with additional 90[deg] due to the integrating factor. (PI controller X)</a:t>
                </a:r>
              </a:p>
              <a:p>
                <a:pPr algn="just"/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PD/PID would be the options: </a:t>
                </a:r>
              </a:p>
              <a:p>
                <a:pPr marL="0" indent="0" algn="just">
                  <a:buNone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Note, PID controller reduces the  DC gain to 0, however it lags the system as well. </a:t>
                </a:r>
              </a:p>
              <a:p>
                <a:pPr marL="0" indent="0" algn="just">
                  <a:buNone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chose PD controller.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759A6DF1-E915-EC75-C572-A5AE890AB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22190" y="1825625"/>
                <a:ext cx="3886200" cy="4351338"/>
              </a:xfrm>
              <a:blipFill>
                <a:blip r:embed="rId2"/>
                <a:stretch>
                  <a:fillRect l="-1411" t="-1961" r="-14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C17427-7B24-E50E-71A5-B7484E7E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8C0D1EFD-165E-E54B-7A0D-89A8173909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9674417"/>
                  </p:ext>
                </p:extLst>
              </p:nvPr>
            </p:nvGraphicFramePr>
            <p:xfrm>
              <a:off x="121350" y="2328820"/>
              <a:ext cx="1920240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3099010962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480368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703679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0818783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8465657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560961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8C0D1EFD-165E-E54B-7A0D-89A8173909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9674417"/>
                  </p:ext>
                </p:extLst>
              </p:nvPr>
            </p:nvGraphicFramePr>
            <p:xfrm>
              <a:off x="121350" y="2328820"/>
              <a:ext cx="1920240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3099010962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2174" r="-1582" b="-4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80368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102174" r="-1582" b="-3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703679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200000" r="-158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818783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303261" r="-1582" b="-1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8465657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6" t="-403261" r="-1582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6096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5F5C3A-BE19-E765-9D55-4D08695DB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5461917"/>
                  </p:ext>
                </p:extLst>
              </p:nvPr>
            </p:nvGraphicFramePr>
            <p:xfrm>
              <a:off x="2041590" y="2328820"/>
              <a:ext cx="2672015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31650">
                      <a:extLst>
                        <a:ext uri="{9D8B030D-6E8A-4147-A177-3AD203B41FA5}">
                          <a16:colId xmlns:a16="http://schemas.microsoft.com/office/drawing/2014/main" val="128491144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4079318025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53918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680989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6591386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151864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1008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5F5C3A-BE19-E765-9D55-4D08695DB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5461917"/>
                  </p:ext>
                </p:extLst>
              </p:nvPr>
            </p:nvGraphicFramePr>
            <p:xfrm>
              <a:off x="2041590" y="2328820"/>
              <a:ext cx="2672015" cy="2807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31650">
                      <a:extLst>
                        <a:ext uri="{9D8B030D-6E8A-4147-A177-3AD203B41FA5}">
                          <a16:colId xmlns:a16="http://schemas.microsoft.com/office/drawing/2014/main" val="128491144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4079318025"/>
                        </a:ext>
                      </a:extLst>
                    </a:gridCol>
                  </a:tblGrid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4" t="-2174" r="-88136" b="-4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6176" t="-2174" r="-1961" b="-4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3918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4" t="-102174" r="-88136" b="-3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6809892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24" t="-200000" r="-8813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6176" t="-200000" r="-196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591386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1518642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6176" t="-403261" r="-1961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1008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54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9813</TotalTime>
  <Words>258</Words>
  <Application>Microsoft Office PowerPoint</Application>
  <PresentationFormat>화면 슬라이드 쇼(4:3)</PresentationFormat>
  <Paragraphs>66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Stabilization Loop</vt:lpstr>
      <vt:lpstr>1. Stabilization Loop</vt:lpstr>
      <vt:lpstr>3. Design Procedures</vt:lpstr>
      <vt:lpstr>4. Design Procedures</vt:lpstr>
      <vt:lpstr>Overall consideration: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이주영/22200576</cp:lastModifiedBy>
  <cp:revision>93</cp:revision>
  <dcterms:created xsi:type="dcterms:W3CDTF">2022-06-23T13:17:03Z</dcterms:created>
  <dcterms:modified xsi:type="dcterms:W3CDTF">2026-06-08T04:06:03Z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