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4"/>
  </p:notesMasterIdLst>
  <p:sldIdLst>
    <p:sldId id="336" r:id="rId6"/>
    <p:sldId id="258" r:id="rId7"/>
    <p:sldId id="362" r:id="rId8"/>
    <p:sldId id="365" r:id="rId9"/>
    <p:sldId id="366" r:id="rId10"/>
    <p:sldId id="368" r:id="rId11"/>
    <p:sldId id="369" r:id="rId12"/>
    <p:sldId id="3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776" autoAdjust="0"/>
  </p:normalViewPr>
  <p:slideViewPr>
    <p:cSldViewPr snapToGrid="0">
      <p:cViewPr>
        <p:scale>
          <a:sx n="125" d="100"/>
          <a:sy n="125" d="100"/>
        </p:scale>
        <p:origin x="648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3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60C0-FBA6-20F8-001D-68CBFF32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D10E0-5DCF-E742-B664-CA75BE26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073E74-39D4-3AB4-E429-A41DED37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015B9-B567-5556-16AC-9D530B727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3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97F0-A9F3-28A1-DE3D-171E08F9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1FAE3A-C6FF-8567-CDDD-C353F816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0AF6E3-F966-67B1-B710-7D5F1F5D6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4F99F-00D0-90C1-D78C-EFEEB6941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937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CFE0-2641-1385-46BD-93EE2C5B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406477-AEFB-A669-24B5-141883EC3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92BC38-224C-1BE9-B8F1-5A3A8151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B763D-2B28-BF9B-9242-D88426A1E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080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7BE6-E90D-506D-AF11-90D14000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9F90EE-247C-EAC1-FB56-50DCAC84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74ECBD-16FC-9E34-D4AA-E0B60D7FF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EDCAA-2662-7269-3724-8091B210C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84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A219-8F16-EDB9-7B7D-21D43E2B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60F8F-4B79-FD72-92EB-850B13CA4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46DE6-503F-F667-380E-8BE9C74B3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AA8B0-0EA3-A42B-05A7-4D3C9D6F6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18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Flow chart of System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   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214AD6-FF2D-C885-D31A-37F2F6D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21B74A-BA73-0F74-66E1-041EDE2365AA}"/>
              </a:ext>
            </a:extLst>
          </p:cNvPr>
          <p:cNvSpPr/>
          <p:nvPr/>
        </p:nvSpPr>
        <p:spPr>
          <a:xfrm>
            <a:off x="3729990" y="3782859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3. Generate Bode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Plot</a:t>
            </a:r>
            <a:endParaRPr lang="ko-KR" altLang="en-US" sz="1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4E99C1-591A-02EE-4B4B-2C3727009D2A}"/>
              </a:ext>
            </a:extLst>
          </p:cNvPr>
          <p:cNvSpPr/>
          <p:nvPr/>
        </p:nvSpPr>
        <p:spPr>
          <a:xfrm>
            <a:off x="3729990" y="435844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4. Obtain </a:t>
            </a:r>
            <a:r>
              <a:rPr lang="en-US" altLang="ko-KR" sz="1400" b="1" dirty="0" err="1"/>
              <a:t>Transfer_function</a:t>
            </a:r>
            <a:r>
              <a:rPr lang="en-US" altLang="ko-KR" sz="1400" b="1" dirty="0"/>
              <a:t> &amp; Validation</a:t>
            </a:r>
            <a:endParaRPr lang="ko-KR" altLang="en-US" sz="1400" b="1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EDA988F-C318-C106-9159-E62B5393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Digital Control and Signal Processing Final Project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3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2"/>
    </mc:Choice>
    <mc:Fallback xmlns="">
      <p:transition spd="slow" advTm="30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Obtaining Transfer Function &amp;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7153BE5D-9B14-FBAB-6B26-066B2B93F22D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</a:t>
            </a:r>
            <a:r>
              <a:rPr lang="en-US" altLang="ko-KR" sz="1600" b="1" dirty="0" err="1">
                <a:latin typeface="+mn-lt"/>
              </a:rPr>
              <a:t>freq_responses</a:t>
            </a:r>
            <a:r>
              <a:rPr lang="en-US" altLang="ko-KR" sz="1600" b="1" dirty="0">
                <a:latin typeface="+mn-lt"/>
              </a:rPr>
              <a:t>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B73D05-605A-870F-905C-7D62040E8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293" y="3928388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Range of Check: 0.2 – 5.8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Bandwidth: ~ 3.0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System_order</a:t>
            </a:r>
            <a:r>
              <a:rPr lang="en-US" altLang="ko-KR" sz="1100" dirty="0">
                <a:cs typeface="Arial" panose="020B0604020202020204" pitchFamily="34" charset="0"/>
              </a:rPr>
              <a:t>: 1st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DC_gain</a:t>
            </a:r>
            <a:r>
              <a:rPr lang="en-US" altLang="ko-KR" sz="1100" dirty="0">
                <a:cs typeface="Arial" panose="020B0604020202020204" pitchFamily="34" charset="0"/>
              </a:rPr>
              <a:t>: ~ 1112.43 [deg/sec]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E337FD-A38A-A5BD-7B07-8575F55B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8" y="1530293"/>
            <a:ext cx="6548155" cy="41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BA52-0F34-D769-C561-C7C5C287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67562F4-4111-E784-8A9A-0090C82D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4.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Obtaining Transfer Function &amp;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31C0AEBE-1957-23D2-4367-EF57085B0258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Transfer function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138D92-F8FD-BC9E-C128-2E029584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/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blipFill>
                <a:blip r:embed="rId3"/>
                <a:stretch>
                  <a:fillRect l="-2456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237FC35-ED59-5C3B-7EE6-14246DEFF511}"/>
              </a:ext>
            </a:extLst>
          </p:cNvPr>
          <p:cNvSpPr/>
          <p:nvPr/>
        </p:nvSpPr>
        <p:spPr>
          <a:xfrm>
            <a:off x="2586960" y="1348036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/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mtClean="0">
                          <a:latin typeface="Cambria Math" panose="02040503050406030204" pitchFamily="18" charset="0"/>
                        </a:rPr>
                        <m:t>1112.4385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10.6798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+11.0963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8">
            <a:extLst>
              <a:ext uri="{FF2B5EF4-FFF2-40B4-BE49-F238E27FC236}">
                <a16:creationId xmlns:a16="http://schemas.microsoft.com/office/drawing/2014/main" id="{E1E68A2E-EA1F-3EDA-5CD9-49548B46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3889" y="4314355"/>
            <a:ext cx="2582823" cy="29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Fitted_range</a:t>
            </a:r>
            <a:r>
              <a:rPr lang="en-US" altLang="ko-KR" sz="1100" dirty="0">
                <a:cs typeface="Arial" panose="020B0604020202020204" pitchFamily="34" charset="0"/>
              </a:rPr>
              <a:t>: 0.3 – 1.3 [Hz]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7BA0F-3BD9-C96E-7AC9-646FABE35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2" y="2052968"/>
            <a:ext cx="6125436" cy="40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5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4F7E0-985D-A1C7-A867-29285759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484947C-8AAE-C5BD-D97A-DFCBEE12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DA5556BD-9CD0-21ED-707A-53417A1DB39C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486FAE-72F6-755D-75A5-E909A86F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CF4696-3DFE-E864-A2F9-8018C2E3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684581"/>
            <a:ext cx="4310387" cy="299227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9F5530-14DD-0A91-E0E3-A183C5DAA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379" y="1818059"/>
            <a:ext cx="4034514" cy="27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69C9-44F8-30BA-E1FB-DCFBAE43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FEAC638-5B11-07D1-AFE5-B9E208A0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9235C69B-E9B9-0DF3-C1BF-F356D4C79DC1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58FBEE-9F38-1B25-3BB3-21941483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210738-76F3-9A59-F017-2FF2C0F9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5" y="1395351"/>
            <a:ext cx="4205575" cy="28612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CAD06E-6EF9-73FC-8911-9C0E4E113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865" y="1480617"/>
            <a:ext cx="4058459" cy="27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3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4E360-8048-41E1-7422-96727F07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BA0FD4B-E0E1-544E-FF84-591B94BC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6-1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Visualizing </a:t>
            </a:r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Errors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D5D253-9DAA-DD1B-0A25-20432A86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9EC332-FDC7-68AD-CB5F-524DDB4C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1" y="988513"/>
            <a:ext cx="6215380" cy="5148679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6AE7C713-10C7-2F87-72BF-8ABA71F36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2770354"/>
            <a:ext cx="2985220" cy="80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RMS fit: ~ 80 % following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Magnitude fit: ~ 90 %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Phase Error: Needs to be talked.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AD3A414-0167-39CF-62DB-301348F02293}"/>
              </a:ext>
            </a:extLst>
          </p:cNvPr>
          <p:cNvSpPr/>
          <p:nvPr/>
        </p:nvSpPr>
        <p:spPr>
          <a:xfrm>
            <a:off x="878840" y="4607560"/>
            <a:ext cx="2250440" cy="1036320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A4D268A-49C8-E47B-8282-2D678EB671A5}"/>
              </a:ext>
            </a:extLst>
          </p:cNvPr>
          <p:cNvSpPr/>
          <p:nvPr/>
        </p:nvSpPr>
        <p:spPr>
          <a:xfrm>
            <a:off x="3474818" y="4712428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D1AB494-3D75-676D-3D4D-A57ECA7F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4480602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The leading terms in low frequency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Inertia is detected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Jump discontinuity in neg region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Deadzone</a:t>
            </a:r>
            <a:r>
              <a:rPr lang="en-US" altLang="ko-KR" sz="1100" dirty="0">
                <a:cs typeface="Arial" panose="020B0604020202020204" pitchFamily="34" charset="0"/>
              </a:rPr>
              <a:t> &amp; Backlash movement.	</a:t>
            </a:r>
          </a:p>
        </p:txBody>
      </p:sp>
    </p:spTree>
    <p:extLst>
      <p:ext uri="{BB962C8B-B14F-4D97-AF65-F5344CB8AC3E}">
        <p14:creationId xmlns:p14="http://schemas.microsoft.com/office/powerpoint/2010/main" val="33440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D20-D04D-0D22-681E-CCCC2D7B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6731812-034D-3025-723C-AD62B8C7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23356A-9D01-64F0-4C17-5445A818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787DE2-3C54-7F16-A9C3-56543CDE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87200"/>
            <a:ext cx="5547360" cy="3487360"/>
          </a:xfrm>
          <a:prstGeom prst="rect">
            <a:avLst/>
          </a:prstGeom>
        </p:spPr>
      </p:pic>
      <p:sp>
        <p:nvSpPr>
          <p:cNvPr id="10" name="제목 6">
            <a:extLst>
              <a:ext uri="{FF2B5EF4-FFF2-40B4-BE49-F238E27FC236}">
                <a16:creationId xmlns:a16="http://schemas.microsoft.com/office/drawing/2014/main" id="{81AEE5A7-E5B4-BD41-779B-BF3580A7C5F6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504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9274</TotalTime>
  <Words>202</Words>
  <Application>Microsoft Office PowerPoint</Application>
  <PresentationFormat>화면 슬라이드 쇼(4:3)</PresentationFormat>
  <Paragraphs>48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Flow chart of System</vt:lpstr>
      <vt:lpstr>Digital Control and Signal Processing Final Project</vt:lpstr>
      <vt:lpstr>3. Obtaining Transfer Function &amp; Validation</vt:lpstr>
      <vt:lpstr>4. Obtaining Transfer Function &amp; Validation</vt:lpstr>
      <vt:lpstr>6. Motor Validation</vt:lpstr>
      <vt:lpstr>6. Motor Validation</vt:lpstr>
      <vt:lpstr>6-1. Visualizing Errors </vt:lpstr>
      <vt:lpstr>Appendix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유성 오</cp:lastModifiedBy>
  <cp:revision>83</cp:revision>
  <dcterms:created xsi:type="dcterms:W3CDTF">2022-06-23T13:17:03Z</dcterms:created>
  <dcterms:modified xsi:type="dcterms:W3CDTF">2026-05-25T04:10:43Z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