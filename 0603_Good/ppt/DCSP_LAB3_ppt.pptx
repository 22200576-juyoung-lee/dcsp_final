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5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-556" y="-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DFB14-0B5D-E9E2-70B3-534DD4E5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14CF08-C484-08CA-836A-0CE888671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75A3F9-E376-0FF9-12C9-67134D71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F6FC8C-437F-B905-C496-C2C9B36A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F2886F-5D54-7C9F-0AAD-814D727F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68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D97F7-A38F-260A-1138-646F7601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A08B18-423B-3B01-255B-035601B3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9788AE-3B74-3518-D485-296485B6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4AE4C5-8E51-792F-B752-14E68EDE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AC16A-1A72-34AA-2E6E-CC43D058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64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F5A01-C7F1-2A6D-D6D4-0C1DA5A7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789CA7-CF45-F3AD-2473-FFF692819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70695-2A86-6017-02F8-7266A68C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A9557-DF59-29C7-F29E-52936A1E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84432-2D57-054C-C8AC-81CCD77D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81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54172-6E43-5A10-071C-45B908D7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1F2848-9217-501D-6762-DBF3B8205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DBFA04-E6B1-C5D4-AF85-26DA9EFF2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9D6965-80DA-9C41-91A3-B772296B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4B2598-A512-1BA8-43AA-11773948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76D33F-E7DA-A76E-1C91-690FC09C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40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C8EDC-DF3A-FFC7-1939-D44932E0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C58B-F30E-286A-BAC5-A0FB12E20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BE1DA-C5E0-4EDC-C0B7-D689AF471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FDAE62-7B00-9A75-14D6-B865A4EDA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11EC78-E5B3-5326-D687-ABCE74DDD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4344C3-199A-D383-E400-5D6F4472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513FBA-EAF2-5959-693B-114FF25D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24AB34-1B20-364A-9122-E983307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95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7597B-6088-717A-B2A1-21E036DB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B288AA-ADAD-AD81-4C3B-8BF8B39F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D7F42D-AC41-050F-1B84-233C6DC1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6DA6D8-8E6F-1FC5-3592-FBD37B17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57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3D1482-74C2-90FF-606A-8AC75450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C9BF6E-C1C5-BF5D-773F-71990E4C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7A192-E8C7-F9E2-9A55-208D8640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41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1BE3-21F1-A92F-CA42-AA912938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DFDF63-38F8-42B1-A00D-C50D70B7D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BDEE12-CCA2-4571-BD4F-3428F402B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1C393A-A6E5-0936-F8FC-BDCCABFE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A15D43-15C3-C6E0-9C4A-F1BF1C5F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D5ED95-60E2-1D8F-F5B9-39FA5AE8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76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ABD32-96E9-1679-B095-E150F8BC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D26677-7C2A-4B7C-8773-53BF3830E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09DDA-BF67-13CA-85C3-DC8F5B1A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EF7E1F-BC9F-BC28-2854-8A489728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897A6-1C60-146B-1A36-4D6EE64F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822D5-082A-1E9A-91DB-C17D585A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38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92C01-D98F-38D6-8567-FE7A3040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8DBC49-5E03-770F-46DE-15D0E90B5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2D663-3673-B82B-AE9D-67493FD9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DB0E3-000B-1C25-47ED-C06618FE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562F8-46C0-303C-2FAB-32125A7C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19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91A2B9-6C64-43F1-4DAA-B793BFDCA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B581DB-8F63-2AA6-DBD5-1E6DA9D05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E003C3-D8FB-E14A-6437-FABEE311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EA49C-D68A-CEEB-CF88-B0D87B00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57F24A-1451-8809-5E48-E1765FAB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75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E3367A-8D15-4886-1C79-5FEE25A0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D5E8B8-8E3C-792A-DD7D-E494058AD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B5AAC1-6002-5CB3-34EA-657FFFAAB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75D9E-C40D-4D28-B16B-EB443FB349E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8AD6CA-4B21-D125-4F9B-73CC89013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74739-C8AD-406C-798F-9C6312DEE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2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1149BCDA-A993-A614-BE9A-A4CD1AD45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i="1" dirty="0"/>
              <a:t>Student ID: 22200576, 22400448</a:t>
            </a:r>
            <a:endParaRPr lang="ko-KR" altLang="ko-KR" dirty="0"/>
          </a:p>
          <a:p>
            <a:pPr algn="r"/>
            <a:r>
              <a:rPr lang="en-US" altLang="ko-KR" i="1" dirty="0"/>
              <a:t>Name: </a:t>
            </a:r>
            <a:r>
              <a:rPr lang="ko-KR" altLang="ko-KR" dirty="0"/>
              <a:t>이주영</a:t>
            </a:r>
            <a:r>
              <a:rPr lang="en-US" altLang="ko-KR" dirty="0"/>
              <a:t>, </a:t>
            </a:r>
            <a:r>
              <a:rPr lang="ko-KR" altLang="ko-KR" dirty="0" err="1"/>
              <a:t>오유성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4" name="AutoShape 237">
            <a:extLst>
              <a:ext uri="{FF2B5EF4-FFF2-40B4-BE49-F238E27FC236}">
                <a16:creationId xmlns:a16="http://schemas.microsoft.com/office/drawing/2014/main" id="{BDED3F54-B8EC-C9DD-4B71-A776C85985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24000" y="1427163"/>
            <a:ext cx="9144000" cy="1655762"/>
          </a:xfrm>
          <a:prstGeom prst="roundRect">
            <a:avLst>
              <a:gd name="adj" fmla="val 16667"/>
            </a:avLst>
          </a:prstGeom>
          <a:solidFill>
            <a:srgbClr val="272727"/>
          </a:solidFill>
          <a:ln w="38100">
            <a:solidFill>
              <a:srgbClr val="D8D8D8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rgbClr val="7F7F7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 latinLnBrk="1">
              <a:buNone/>
            </a:pPr>
            <a:r>
              <a:rPr lang="en-US" sz="4800" kern="1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LAB3. MOTOR VALIDATION</a:t>
            </a:r>
            <a:endParaRPr lang="ko-KR" sz="48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86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54A6B-9A2B-AE8F-277B-37B3F737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0515600" cy="1325563"/>
          </a:xfrm>
        </p:spPr>
        <p:txBody>
          <a:bodyPr/>
          <a:lstStyle/>
          <a:p>
            <a:r>
              <a:rPr lang="en-US" altLang="ko-KR" b="1" dirty="0"/>
              <a:t>1. Goal of the Experiment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95ACF5-26AC-4E3C-42DD-9F0BE4A52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253331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Obtain Motor Static Property</a:t>
            </a:r>
            <a:endParaRPr lang="ko-KR" altLang="ko-KR" b="1" dirty="0"/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Motor Static Property vs Linearized Model</a:t>
            </a:r>
            <a:endParaRPr lang="ko-KR" altLang="ko-KR" b="1" dirty="0"/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Linear Mapping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Linearization Validation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Check Slew Rate Limit</a:t>
            </a:r>
            <a:endParaRPr lang="ko-KR" altLang="ko-KR" b="1" dirty="0"/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Sine Response - Bode Magnitude plot</a:t>
            </a:r>
            <a:endParaRPr lang="ko-KR" altLang="ko-KR" b="1" dirty="0"/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FC53EA-3278-EEF9-4DD2-7BDA745E3299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1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3332-C33F-FE2F-1C64-9DC5681D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77350-3CBF-6830-4737-4209621E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3. Motor Static Property vs Linearized Model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865E51-2B55-F27A-2410-216DF4AA8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253331"/>
            <a:ext cx="6211242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arenR"/>
            </a:pP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3-Point Mapping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altLang="ko-KR" dirty="0"/>
              <a:t>Quadratic Linearization through selecting 3 exclusive points. </a:t>
            </a:r>
          </a:p>
          <a:p>
            <a:pPr marL="514350" indent="-514350">
              <a:buFont typeface="+mj-lt"/>
              <a:buAutoNum type="arabicParenR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2) Accuracy &amp; Deviations:</a:t>
            </a:r>
          </a:p>
          <a:p>
            <a:pPr marL="0" indent="0">
              <a:buNone/>
            </a:pPr>
            <a:r>
              <a:rPr lang="en-US" altLang="ko-KR" dirty="0"/>
              <a:t>The goal is to accurately trace the 3 points, especially near the </a:t>
            </a:r>
            <a:r>
              <a:rPr lang="en-US" altLang="ko-KR" dirty="0" err="1"/>
              <a:t>deadzone</a:t>
            </a:r>
            <a:r>
              <a:rPr lang="en-US" altLang="ko-KR" dirty="0"/>
              <a:t> region. Though, minor errors do exist in the remaining region. 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E93EF3-912A-9C15-FD9A-EE7171E02039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8CD8B4-D408-3CED-6FE2-132B6E69A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44" y="1195376"/>
            <a:ext cx="4933353" cy="25603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7EE31BD-DE30-BD28-0435-BB927FF66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43" y="3999649"/>
            <a:ext cx="4933354" cy="25603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F7D1B08-3777-09A4-D21D-024686A01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42" y="1182972"/>
            <a:ext cx="4973881" cy="25851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DF9B53D-C896-91DD-30D7-C257616A0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6" y="3910132"/>
            <a:ext cx="5047308" cy="264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1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FBC28-1914-4EE1-FD55-71EAF3B0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885D2-AD9B-80BB-27AD-EE2CFB859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4. Linear Mapping</a:t>
            </a:r>
            <a:br>
              <a:rPr lang="ko-KR" altLang="ko-KR" b="1" dirty="0"/>
            </a:b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47183B6A-7B2A-A2CF-F3FB-3B86B8767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1253331"/>
                <a:ext cx="5651500" cy="43513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altLang="ko-KR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Input Range: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=−1.8 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 1.8 [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2) </a:t>
                </a:r>
                <a:r>
                  <a:rPr lang="en-US" altLang="ko-KR" b="1" dirty="0" err="1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Deadzone</a:t>
                </a:r>
                <a:r>
                  <a:rPr lang="en-US" altLang="ko-KR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Setting: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400" i="1" dirty="0" smtClean="0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+0.0</m:t>
                      </m:r>
                      <m:r>
                        <a:rPr lang="en-US" altLang="ko-KR" sz="2400" b="0" i="0" dirty="0" smtClean="0">
                          <a:latin typeface="Cambria Math" panose="02040503050406030204" pitchFamily="18" charset="0"/>
                        </a:rPr>
                        <m:t>5[</m:t>
                      </m:r>
                      <m:r>
                        <m:rPr>
                          <m:sty m:val="p"/>
                        </m:rPr>
                        <a:rPr lang="en-US" altLang="ko-KR" sz="2400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ko-KR" sz="2400" b="0" i="0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3) Linear Slope: </a:t>
                </a:r>
                <a:endParaRPr lang="en-US" altLang="ko-KR" sz="24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970 [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𝑑𝑒𝑔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ko-KR" sz="2400" dirty="0"/>
                  <a:t>]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47183B6A-7B2A-A2CF-F3FB-3B86B8767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1253331"/>
                <a:ext cx="5651500" cy="4351338"/>
              </a:xfrm>
              <a:blipFill>
                <a:blip r:embed="rId2"/>
                <a:stretch>
                  <a:fillRect l="-2589" t="-3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7AE20AC4-BD6E-B49E-E9A7-AE634C1096DB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605A56-BC8F-9A7F-1E73-AEFACF13F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35" y="987093"/>
            <a:ext cx="4650916" cy="28400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A9D67AC-06B8-E775-6A81-74C496123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835" y="3827179"/>
            <a:ext cx="4650916" cy="28603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C4EC07D-7CAB-0D84-650C-BB147A0C7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3835" y="987093"/>
            <a:ext cx="4733465" cy="286842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32B8308-1E0B-E650-DC31-CAD71E4E4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835" y="3855522"/>
            <a:ext cx="4617892" cy="284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2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BD12-BC90-0027-1B79-06B17B38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E79C5-7D1A-2100-079F-BEC3171F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5. Linearization Validation</a:t>
            </a:r>
            <a:br>
              <a:rPr lang="ko-KR" altLang="ko-KR" b="1" dirty="0"/>
            </a:b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16D06899-AA9F-900E-3303-0F4EAD4292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1253331"/>
                <a:ext cx="59563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ko-KR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Full-Range Verification: </a:t>
                </a:r>
                <a:r>
                  <a:rPr lang="en-US" altLang="ko-KR" dirty="0"/>
                  <a:t>Applied both triangle and sine waves to sweep the entire spectrum of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16D06899-AA9F-900E-3303-0F4EAD429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1253331"/>
                <a:ext cx="5956300" cy="4351338"/>
              </a:xfrm>
              <a:blipFill>
                <a:blip r:embed="rId2"/>
                <a:stretch>
                  <a:fillRect l="-2149" t="-2525" r="-32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F6AE9F09-6938-BA6B-831B-DDAC6334549F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788F7D-8161-8459-7BA5-4587B2F2F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43" y="1164902"/>
            <a:ext cx="4986498" cy="25907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85877F-17BF-D68A-690D-C524652C6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43" y="3999648"/>
            <a:ext cx="4896177" cy="25702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68572A-74A5-9665-7720-8C0AF3819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553" y="1164902"/>
            <a:ext cx="4992070" cy="25907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A5C5BEC-D269-3FC3-B4F7-CD650AD98F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743" y="3999647"/>
            <a:ext cx="4948988" cy="25702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30F64B-22DB-1AFF-F011-A6A26FDDC1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553" y="1110527"/>
            <a:ext cx="4986499" cy="26451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5D6C8F8-FCB6-38B1-62E5-2495EA1FED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5743" y="3962211"/>
            <a:ext cx="5004374" cy="264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6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443F4-D0BD-4DB2-57F4-0CCBDCCCC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B85F9-964A-3291-6376-963A2692B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5. Linearization Validation</a:t>
            </a:r>
            <a:br>
              <a:rPr lang="ko-KR" altLang="ko-KR" b="1" dirty="0"/>
            </a:b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BF463741-A5C5-004E-7D5C-9B4CB12E7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1253331"/>
                <a:ext cx="6131398" cy="4351338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altLang="ko-KR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Deadzone: </a:t>
                </a:r>
                <a:r>
                  <a:rPr lang="en-US" altLang="ko-KR" dirty="0" err="1"/>
                  <a:t>Deadzone</a:t>
                </a:r>
                <a:r>
                  <a:rPr lang="en-US" altLang="ko-KR" dirty="0"/>
                  <a:t> was observed around the control input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range of -0.05 V to +0.05 V.</a:t>
                </a:r>
              </a:p>
              <a:p>
                <a:pPr marL="514350" indent="-514350">
                  <a:buFont typeface="+mj-lt"/>
                  <a:buAutoNum type="arabicParenR"/>
                </a:pPr>
                <a:endParaRPr lang="en-US" altLang="ko-KR" b="1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altLang="ko-KR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Minimum Peak Distortion: </a:t>
                </a:r>
                <a:r>
                  <a:rPr lang="en-US" altLang="ko-KR" dirty="0"/>
                  <a:t>Distortion occurred in the response curve passed through its minimum peak due to the </a:t>
                </a:r>
                <a:r>
                  <a:rPr lang="en-US" altLang="ko-KR" b="1" dirty="0">
                    <a:solidFill>
                      <a:srgbClr val="600000"/>
                    </a:solidFill>
                  </a:rPr>
                  <a:t>impact of mechanical backlash</a:t>
                </a:r>
                <a:r>
                  <a:rPr lang="en-US" altLang="ko-KR" dirty="0"/>
                  <a:t> during the directional reversal.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BF463741-A5C5-004E-7D5C-9B4CB12E7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1253331"/>
                <a:ext cx="6131398" cy="4351338"/>
              </a:xfrm>
              <a:blipFill>
                <a:blip r:embed="rId2"/>
                <a:stretch>
                  <a:fillRect l="-2386" t="-4628" r="-1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D5F93742-79D4-C3B9-B18D-2834CE0F1A10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3E7A65-8227-B677-458B-993BA0DB9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43" y="1164900"/>
            <a:ext cx="4986498" cy="2587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FA7AC0-AD4B-AFB4-24B1-8323EC875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42" y="3939417"/>
            <a:ext cx="5091757" cy="26425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C8E4FCC-17F8-3EAF-4420-6F5C8565B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268" y="1074341"/>
            <a:ext cx="5219973" cy="27690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CF15378-BE9A-D172-2939-41268F7ED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898" y="3843359"/>
            <a:ext cx="5219973" cy="276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05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9717-E2B2-73B1-6A86-F842C5FE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3AC5E-D635-23A0-7DB0-70828607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6. Check Slew Rate Limit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8190D6-6DAF-A982-30F5-51EDBFE6E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253331"/>
            <a:ext cx="6096000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Response Linearity: </a:t>
            </a:r>
            <a:r>
              <a:rPr lang="en-US" altLang="ko-KR" dirty="0"/>
              <a:t>The transient slope of the output increased linearly in proportion to the pulse input magnitude from 0V up to 1.8V.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endParaRPr lang="en-US" altLang="ko-KR" dirty="0"/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Limit Verification: </a:t>
            </a:r>
            <a:r>
              <a:rPr lang="en-US" altLang="ko-KR" dirty="0"/>
              <a:t>The lack of slope saturation confirms that the system is not affected by slew rate limits within the tested operational range.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708E0D-8531-BA72-A9E5-E0A25EA363C0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2B69DC-05B4-6DEB-C0D9-452345606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43" y="1164900"/>
            <a:ext cx="4986498" cy="2587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3AAAC0-0000-A9FF-307D-6486CEE07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42" y="3939417"/>
            <a:ext cx="5091757" cy="26425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F0226D-E842-573F-9A13-73B12E8BA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41" y="1138039"/>
            <a:ext cx="5038255" cy="26147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B22197B-678B-DF75-F1B2-E65BB0D0C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740" y="3939416"/>
            <a:ext cx="5091757" cy="26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4EBC-2F90-DF0D-DA99-392A85B8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2FF18-B864-6317-F2D1-E0FF240F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7. Sine Response - Bode Magnitude plot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69C79D-6981-290C-E0EA-39A54F563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253331"/>
            <a:ext cx="6280150" cy="4351338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Sine Wave Input: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ko-KR" dirty="0"/>
              <a:t>Evaluated the frequency response by sequentially applying sine wave inputs from </a:t>
            </a:r>
            <a:r>
              <a:rPr lang="en-US" altLang="ko-KR" dirty="0">
                <a:solidFill>
                  <a:srgbClr val="600000"/>
                </a:solidFill>
              </a:rPr>
              <a:t>DC to 8Hz.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endParaRPr lang="en-US" altLang="ko-KR" dirty="0"/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altLang="ko-K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Bandwidth Identification:</a:t>
            </a:r>
            <a:r>
              <a:rPr lang="en-US" altLang="ko-KR" dirty="0"/>
              <a:t> Determined the system bandwidth to be </a:t>
            </a:r>
            <a:r>
              <a:rPr lang="en-US" altLang="ko-KR" dirty="0">
                <a:solidFill>
                  <a:srgbClr val="600000"/>
                </a:solidFill>
              </a:rPr>
              <a:t>3.4Hz</a:t>
            </a:r>
            <a:r>
              <a:rPr lang="en-US" altLang="ko-KR" dirty="0"/>
              <a:t> by identifying the point where the gain drops to </a:t>
            </a:r>
            <a:r>
              <a:rPr lang="en-US" altLang="ko-KR" dirty="0">
                <a:solidFill>
                  <a:srgbClr val="600000"/>
                </a:solidFill>
              </a:rPr>
              <a:t>-3dB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6AE231-0E57-9F4D-D7FB-F0359987E364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F3E7D0-6E15-ACBD-AB2E-C746D86F3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43" y="1164900"/>
            <a:ext cx="4986498" cy="2587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D5E7FA-4292-62E8-FE60-81FDC736E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42" y="3939417"/>
            <a:ext cx="5091757" cy="26425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A47ABE-6C32-8864-4FE7-F37666196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43" y="1164900"/>
            <a:ext cx="4986498" cy="25879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5FD3C2-4EB7-E328-C16C-133770FC7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742" y="3939417"/>
            <a:ext cx="5088063" cy="26425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7961066-7DF0-85A6-F12C-3EB985DC2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742" y="1164900"/>
            <a:ext cx="5034608" cy="261286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7954F78-E466-7DB1-734C-3795C2825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26" y="3939417"/>
            <a:ext cx="5091757" cy="26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43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1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F13E69-46CC-4137-8D5F-1D02E198C621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d34a66db-45eb-4f6d-be0b-aa4d7ac3697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323</Words>
  <Application>Microsoft Office PowerPoint</Application>
  <PresentationFormat>와이드스크린</PresentationFormat>
  <Paragraphs>39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LAB3. MOTOR VALIDATION</vt:lpstr>
      <vt:lpstr>1. Goal of the Experiment </vt:lpstr>
      <vt:lpstr>3. Motor Static Property vs Linearized Model </vt:lpstr>
      <vt:lpstr>4. Linear Mapping </vt:lpstr>
      <vt:lpstr>5. Linearization Validation </vt:lpstr>
      <vt:lpstr>5. Linearization Validation </vt:lpstr>
      <vt:lpstr>6. Check Slew Rate Limit </vt:lpstr>
      <vt:lpstr>7. Sine Response - Bode Magnitude plot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이주영/22200576</dc:creator>
  <cp:lastModifiedBy>이주영/22200576</cp:lastModifiedBy>
  <cp:revision>9</cp:revision>
  <dcterms:created xsi:type="dcterms:W3CDTF">2026-05-11T01:32:43Z</dcterms:created>
  <dcterms:modified xsi:type="dcterms:W3CDTF">2026-05-13T13:40:58Z</dcterms:modified>
</cp:coreProperties>
</file>