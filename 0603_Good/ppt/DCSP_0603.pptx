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4"/>
  </p:notesMasterIdLst>
  <p:sldIdLst>
    <p:sldId id="336" r:id="rId6"/>
    <p:sldId id="258" r:id="rId7"/>
    <p:sldId id="362" r:id="rId8"/>
    <p:sldId id="372" r:id="rId9"/>
    <p:sldId id="374" r:id="rId10"/>
    <p:sldId id="375" r:id="rId11"/>
    <p:sldId id="371" r:id="rId12"/>
    <p:sldId id="37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776" autoAdjust="0"/>
  </p:normalViewPr>
  <p:slideViewPr>
    <p:cSldViewPr snapToGrid="0">
      <p:cViewPr varScale="1">
        <p:scale>
          <a:sx n="100" d="100"/>
          <a:sy n="100" d="100"/>
        </p:scale>
        <p:origin x="136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3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FFC6-A7C3-6003-B764-890BE330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EDA85-0FD6-B95F-37A4-44C234486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FBC6C0-2082-89EE-7936-FD6F4A644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57FA14-5EFF-AFB9-D77A-167B51884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97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5F9C-2324-5ABA-675D-82C45CEA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766512-6D1E-5637-7FB6-145B2BC2F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282F23-1481-2EB5-07C4-F32AE9B8E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7820B-2738-EB31-1F5A-31599CF8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902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2E2B-F9F5-3905-746F-1B444A77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3ADBB6-BC05-1ECD-B375-6A7B60FA2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87E134-381E-7C1E-5A85-F389438ED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ACB6B-0AE0-E08E-AED2-A5891FD9F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113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74EB-9DA0-BE80-7C3F-E63C66CF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3DEA4-2F72-28E1-2724-0525E9A84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F7F7E1-5278-7BBB-1F79-FD9FCAAD1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F79FA-38AB-2B9F-6467-C361FE58E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70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6F6C-FA06-102D-D6F5-5CD54043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76CEB7-429F-5B0A-C8FB-364588C53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BD3555-A79D-0B6C-85B2-8C56C4DA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8A428D-04BE-F73E-AFE0-7E46B45FC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133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18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Designation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   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214AD6-FF2D-C885-D31A-37F2F6D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21B74A-BA73-0F74-66E1-041EDE2365AA}"/>
              </a:ext>
            </a:extLst>
          </p:cNvPr>
          <p:cNvSpPr/>
          <p:nvPr/>
        </p:nvSpPr>
        <p:spPr>
          <a:xfrm>
            <a:off x="3729990" y="3782859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3. Design of Controller</a:t>
            </a:r>
            <a:endParaRPr lang="ko-KR" altLang="en-US" sz="1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4E99C1-591A-02EE-4B4B-2C3727009D2A}"/>
              </a:ext>
            </a:extLst>
          </p:cNvPr>
          <p:cNvSpPr/>
          <p:nvPr/>
        </p:nvSpPr>
        <p:spPr>
          <a:xfrm>
            <a:off x="3729990" y="435844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4. Performance Analysis</a:t>
            </a:r>
            <a:endParaRPr lang="ko-KR" altLang="en-US" sz="1400" b="1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EDA988F-C318-C106-9159-E62B5393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Digital Control and Signal Processing Final Project</a:t>
            </a:r>
            <a:endParaRPr lang="ko-KR" altLang="en-US" sz="16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3A97CFF-4012-6449-6287-CDCFB800F789}"/>
              </a:ext>
            </a:extLst>
          </p:cNvPr>
          <p:cNvSpPr/>
          <p:nvPr/>
        </p:nvSpPr>
        <p:spPr>
          <a:xfrm>
            <a:off x="3729990" y="2612643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1. Sensor Modeling</a:t>
            </a:r>
            <a:endParaRPr lang="ko-KR" altLang="en-US" sz="1400" b="1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E2C9C4-D8F2-7B03-3534-4882AD362622}"/>
              </a:ext>
            </a:extLst>
          </p:cNvPr>
          <p:cNvSpPr/>
          <p:nvPr/>
        </p:nvSpPr>
        <p:spPr>
          <a:xfrm>
            <a:off x="3729990" y="3207276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2. Structure of Controller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3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2"/>
    </mc:Choice>
    <mc:Fallback xmlns="">
      <p:transition spd="slow" advTm="30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1. Sensor Modeling / 2. </a:t>
            </a:r>
            <a:r>
              <a:rPr lang="en-US" altLang="ko-KR" b="1" dirty="0">
                <a:latin typeface="+mj-ea"/>
              </a:rPr>
              <a:t>Structure of Controller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1CEA34-45CD-122C-2429-ECF20E680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99" y="1128847"/>
            <a:ext cx="8556601" cy="1823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제목 6">
                <a:extLst>
                  <a:ext uri="{FF2B5EF4-FFF2-40B4-BE49-F238E27FC236}">
                    <a16:creationId xmlns:a16="http://schemas.microsoft.com/office/drawing/2014/main" id="{C54F41C7-8B9B-48DB-03D2-4BB66BAADA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699" y="3257477"/>
                <a:ext cx="6322060" cy="2621280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fontScale="97500"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ko-KR" sz="1600" b="1" dirty="0">
                    <a:latin typeface="+mn-lt"/>
                  </a:rPr>
                  <a:t>Closed loop Transfer function: </a:t>
                </a:r>
              </a:p>
              <a:p>
                <a:endParaRPr lang="en-US" altLang="ko-KR" sz="1600" b="1" dirty="0"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∎</m:t>
                        </m:r>
                      </m:num>
                      <m:den>
                        <m:sSup>
                          <m:sSup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sz="1800" dirty="0"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800" dirty="0"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800" dirty="0">
                  <a:latin typeface="+mn-lt"/>
                </a:endParaRPr>
              </a:p>
              <a:p>
                <a:endParaRPr lang="en-US" altLang="ko-KR" sz="1600" dirty="0"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+mn-lt"/>
                </a:endParaRPr>
              </a:p>
              <a:p>
                <a:endParaRPr lang="en-US" altLang="ko-KR" sz="16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제목 6">
                <a:extLst>
                  <a:ext uri="{FF2B5EF4-FFF2-40B4-BE49-F238E27FC236}">
                    <a16:creationId xmlns:a16="http://schemas.microsoft.com/office/drawing/2014/main" id="{C54F41C7-8B9B-48DB-03D2-4BB66BAAD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9" y="3257477"/>
                <a:ext cx="6322060" cy="2621280"/>
              </a:xfrm>
              <a:prstGeom prst="rect">
                <a:avLst/>
              </a:prstGeom>
              <a:blipFill>
                <a:blip r:embed="rId4"/>
                <a:stretch>
                  <a:fillRect l="-579" t="-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DDE-CC77-DF9B-CA4F-BB50F7B7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0C66154-2671-FA19-21B8-589EBF99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3. Model Design Method</a:t>
            </a:r>
            <a:endParaRPr lang="ko-KR" alt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제목 6">
                <a:extLst>
                  <a:ext uri="{FF2B5EF4-FFF2-40B4-BE49-F238E27FC236}">
                    <a16:creationId xmlns:a16="http://schemas.microsoft.com/office/drawing/2014/main" id="{519B342D-85C4-5C52-4E2C-441424D2BE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5300" y="902940"/>
                <a:ext cx="4362450" cy="5370860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fontScale="97500"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ko-KR" sz="1600" b="1" dirty="0">
                    <a:latin typeface="+mn-lt"/>
                  </a:rPr>
                  <a:t>Pole placement</a:t>
                </a:r>
              </a:p>
              <a:p>
                <a:r>
                  <a:rPr lang="en-US" altLang="ko-KR" sz="1600" dirty="0">
                    <a:latin typeface="+mn-lt"/>
                  </a:rPr>
                  <a:t>         </a:t>
                </a:r>
                <a:r>
                  <a:rPr lang="en-US" altLang="ko-KR" sz="1600" b="1" dirty="0">
                    <a:latin typeface="+mn-lt"/>
                  </a:rPr>
                  <a:t>Relative Stability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𝑂𝑆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&lt;10%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/√(1−</m:t>
                        </m:r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×100&lt;10%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&gt;  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0.59 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&lt;−0.59 [−]</m:t>
                      </m:r>
                    </m:oMath>
                  </m:oMathPara>
                </a14:m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90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≤0.1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𝑠𝑒𝑐</m:t>
                        </m:r>
                      </m:e>
                    </m:d>
                  </m:oMath>
                </a14:m>
                <a:endParaRPr lang="en-US" altLang="ko-KR" sz="1600" dirty="0"/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&gt;26.546[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600" dirty="0"/>
              </a:p>
              <a:p>
                <a:pPr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/>
                  <a:t>Selected Values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=35 [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=0.7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628650" lvl="1" indent="-171450">
                  <a:buFontTx/>
                  <a:buChar char="-"/>
                </a:pPr>
                <a:endParaRPr lang="en-US" altLang="ko-KR" sz="1600" dirty="0">
                  <a:latin typeface="+mn-lt"/>
                </a:endParaRPr>
              </a:p>
              <a:p>
                <a:pPr marL="628650" lvl="1" indent="-171450">
                  <a:buFontTx/>
                  <a:buChar char="-"/>
                </a:pPr>
                <a:endParaRPr lang="ko-KR" altLang="en-US" sz="1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제목 6">
                <a:extLst>
                  <a:ext uri="{FF2B5EF4-FFF2-40B4-BE49-F238E27FC236}">
                    <a16:creationId xmlns:a16="http://schemas.microsoft.com/office/drawing/2014/main" id="{519B342D-85C4-5C52-4E2C-441424D2B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902940"/>
                <a:ext cx="4362450" cy="5370860"/>
              </a:xfrm>
              <a:prstGeom prst="rect">
                <a:avLst/>
              </a:prstGeom>
              <a:blipFill>
                <a:blip r:embed="rId3"/>
                <a:stretch>
                  <a:fillRect l="-698" t="-7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A9AE3C-7D8E-0EAF-6843-149A84F5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D457E3-E8D8-C64C-22E8-7EE0A567E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476" y="964438"/>
            <a:ext cx="2934295" cy="282337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1B8FA08-5050-37D7-7931-0D72717BAB05}"/>
              </a:ext>
            </a:extLst>
          </p:cNvPr>
          <p:cNvSpPr/>
          <p:nvPr/>
        </p:nvSpPr>
        <p:spPr>
          <a:xfrm>
            <a:off x="7277101" y="1710887"/>
            <a:ext cx="575940" cy="14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26.546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6221E8-01CA-B8CA-888F-D951C9BAE2B9}"/>
              </a:ext>
            </a:extLst>
          </p:cNvPr>
          <p:cNvSpPr/>
          <p:nvPr/>
        </p:nvSpPr>
        <p:spPr>
          <a:xfrm>
            <a:off x="6119282" y="3295405"/>
            <a:ext cx="605367" cy="14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-0.59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174EAB-5FCB-C822-D505-A3ABE902223A}"/>
              </a:ext>
            </a:extLst>
          </p:cNvPr>
          <p:cNvSpPr/>
          <p:nvPr/>
        </p:nvSpPr>
        <p:spPr>
          <a:xfrm>
            <a:off x="6102350" y="1320362"/>
            <a:ext cx="462725" cy="1909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0.59</a:t>
            </a:r>
            <a:endParaRPr lang="ko-KR" altLang="en-US" sz="1000" dirty="0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1405729D-767E-4E3C-4F2E-A85741AFB3C8}"/>
              </a:ext>
            </a:extLst>
          </p:cNvPr>
          <p:cNvSpPr txBox="1">
            <a:spLocks/>
          </p:cNvSpPr>
          <p:nvPr/>
        </p:nvSpPr>
        <p:spPr>
          <a:xfrm>
            <a:off x="408296" y="378781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B3B871-D8E9-8D52-FED1-44A777644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572" y="3634739"/>
            <a:ext cx="5191155" cy="2718180"/>
          </a:xfrm>
          <a:prstGeom prst="rect">
            <a:avLst/>
          </a:prstGeom>
        </p:spPr>
      </p:pic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4495411C-C30E-17F9-ECE4-CB4A429F25C7}"/>
              </a:ext>
            </a:extLst>
          </p:cNvPr>
          <p:cNvSpPr/>
          <p:nvPr/>
        </p:nvSpPr>
        <p:spPr>
          <a:xfrm>
            <a:off x="7791451" y="3909392"/>
            <a:ext cx="152400" cy="133350"/>
          </a:xfrm>
          <a:prstGeom prst="mathMultiply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6753BFDA-FFD5-7F6E-08AF-F7ACB15001E7}"/>
              </a:ext>
            </a:extLst>
          </p:cNvPr>
          <p:cNvSpPr/>
          <p:nvPr/>
        </p:nvSpPr>
        <p:spPr>
          <a:xfrm>
            <a:off x="7805209" y="5900948"/>
            <a:ext cx="152400" cy="133350"/>
          </a:xfrm>
          <a:prstGeom prst="mathMultiply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ABEB0A3F-3207-1DDD-937C-D2B0A3C8E93D}"/>
              </a:ext>
            </a:extLst>
          </p:cNvPr>
          <p:cNvSpPr/>
          <p:nvPr/>
        </p:nvSpPr>
        <p:spPr>
          <a:xfrm>
            <a:off x="4343400" y="4907173"/>
            <a:ext cx="74613" cy="74792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5CCC-712B-89A8-31FC-1FB11C5F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272025F-FBF7-B791-216C-2F0A7D6F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Design Model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C19963-35BA-8791-23E3-8C3F1958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3C4A7D-E83A-A69A-6783-47FBCC2FD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6" y="1503662"/>
            <a:ext cx="9033956" cy="1925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163CFD-F322-99C6-82E3-AA40B7C7693A}"/>
                  </a:ext>
                </a:extLst>
              </p:cNvPr>
              <p:cNvSpPr txBox="1"/>
              <p:nvPr/>
            </p:nvSpPr>
            <p:spPr>
              <a:xfrm>
                <a:off x="2254250" y="3657735"/>
                <a:ext cx="4387850" cy="147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1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altLang="ko-KR" sz="2100" i="1">
                        <a:latin typeface="Cambria Math" panose="02040503050406030204" pitchFamily="18" charset="0"/>
                      </a:rPr>
                      <m:t>=0.090363</m:t>
                    </m:r>
                  </m:oMath>
                </a14:m>
                <a:endParaRPr lang="en-US" altLang="ko-KR" sz="2100" dirty="0"/>
              </a:p>
              <a:p>
                <a:pPr lvl="1"/>
                <a:endParaRPr lang="en-US" altLang="ko-KR" sz="21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en-US" altLang="ko-KR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1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ko-KR" sz="2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21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1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altLang="ko-KR" sz="2100" i="1">
                        <a:latin typeface="Cambria Math" panose="02040503050406030204" pitchFamily="18" charset="0"/>
                      </a:rPr>
                      <m:t>=0.002846</m:t>
                    </m:r>
                  </m:oMath>
                </a14:m>
                <a:endParaRPr lang="en-US" altLang="ko-KR" sz="2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163CFD-F322-99C6-82E3-AA40B7C76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250" y="3657735"/>
                <a:ext cx="4387850" cy="14707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81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BD8B-D2EA-8222-3EA3-EC7734C3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FA42AE9-0828-05D4-5C82-033FDA58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Analysis Model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057953F-82A8-3EF7-6EE3-13AB2EB6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CE6CF4-4C0D-591A-9955-E512BF88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1643"/>
            <a:ext cx="8930626" cy="3916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E51EBA-6B18-F801-6EC2-1542320E1AE0}"/>
                  </a:ext>
                </a:extLst>
              </p:cNvPr>
              <p:cNvSpPr txBox="1"/>
              <p:nvPr/>
            </p:nvSpPr>
            <p:spPr>
              <a:xfrm>
                <a:off x="77462" y="4877911"/>
                <a:ext cx="454533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100" i="1" dirty="0" smtClean="0">
                        <a:latin typeface="Cambria Math" panose="02040503050406030204" pitchFamily="18" charset="0"/>
                      </a:rPr>
                      <m:t>𝐷𝑒𝑎𝑑𝑍𝑜𝑛𝑒</m:t>
                    </m:r>
                    <m:r>
                      <a:rPr lang="en-US" altLang="ko-KR" sz="21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100" i="1" dirty="0" smtClean="0">
                        <a:latin typeface="Cambria Math" panose="02040503050406030204" pitchFamily="18" charset="0"/>
                      </a:rPr>
                      <m:t>0.05 </m:t>
                    </m:r>
                    <m:r>
                      <a:rPr lang="en-US" altLang="ko-KR" sz="210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ko-KR" sz="2100" i="1" dirty="0" smtClean="0">
                        <a:latin typeface="Cambria Math" panose="02040503050406030204" pitchFamily="18" charset="0"/>
                      </a:rPr>
                      <m:t> −0.05</m:t>
                    </m:r>
                  </m:oMath>
                </a14:m>
                <a:endParaRPr lang="en-US" altLang="ko-KR" sz="210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sz="210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sz="2100" b="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𝑁𝑜𝑖𝑠𝑒</m:t>
                    </m:r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𝑝𝑜𝑤𝑒𝑟</m:t>
                    </m:r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=0.02 [</m:t>
                    </m:r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E51EBA-6B18-F801-6EC2-1542320E1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" y="4877911"/>
                <a:ext cx="4545337" cy="1384995"/>
              </a:xfrm>
              <a:prstGeom prst="rect">
                <a:avLst/>
              </a:prstGeom>
              <a:blipFill>
                <a:blip r:embed="rId4"/>
                <a:stretch>
                  <a:fillRect t="-881" b="-6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33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4C5A-8014-3F15-66D0-9E993786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D092D08-D719-0C27-3649-01EAABD6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Performance Analysis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52EB58-CC79-5C35-11D0-3DA7DD52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3B1D32-7973-BC0D-20C6-D8AB8F7A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00" y="915530"/>
            <a:ext cx="5492750" cy="294361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AA7C23-AEC1-E575-3F7C-1DF287AD7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23" y="3670331"/>
            <a:ext cx="5642827" cy="2931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제목 6">
                <a:extLst>
                  <a:ext uri="{FF2B5EF4-FFF2-40B4-BE49-F238E27FC236}">
                    <a16:creationId xmlns:a16="http://schemas.microsoft.com/office/drawing/2014/main" id="{944C184D-498F-EF6E-F0CA-E34CE0F9CE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050" y="1055340"/>
                <a:ext cx="4362450" cy="3624610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fontScale="97500"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+mn-lt"/>
                  </a:rPr>
                  <a:t>Control Gain Design</a:t>
                </a:r>
              </a:p>
              <a:p>
                <a:pPr marL="342900" indent="-342900">
                  <a:buAutoNum type="alphaUcPeriod"/>
                </a:pPr>
                <a:endParaRPr lang="en-US" altLang="ko-KR" sz="1600" b="1" dirty="0">
                  <a:latin typeface="+mn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𝑂𝑆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=4.42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90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=0.086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𝑠𝑒𝑐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=0.0025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=65.15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e>
                    </m:d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𝐼𝑛𝑓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628650" lvl="1" indent="-171450">
                  <a:buFontTx/>
                  <a:buChar char="-"/>
                </a:pPr>
                <a:endParaRPr lang="en-US" altLang="ko-KR" sz="1600" dirty="0">
                  <a:latin typeface="+mn-lt"/>
                </a:endParaRPr>
              </a:p>
              <a:p>
                <a:pPr marL="628650" lvl="1" indent="-171450">
                  <a:buFontTx/>
                  <a:buChar char="-"/>
                </a:pPr>
                <a:endParaRPr lang="ko-KR" altLang="en-US" sz="1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6" name="제목 6">
                <a:extLst>
                  <a:ext uri="{FF2B5EF4-FFF2-40B4-BE49-F238E27FC236}">
                    <a16:creationId xmlns:a16="http://schemas.microsoft.com/office/drawing/2014/main" id="{944C184D-498F-EF6E-F0CA-E34CE0F9C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0" y="1055340"/>
                <a:ext cx="4362450" cy="3624610"/>
              </a:xfrm>
              <a:prstGeom prst="rect">
                <a:avLst/>
              </a:prstGeom>
              <a:blipFill>
                <a:blip r:embed="rId5"/>
                <a:stretch>
                  <a:fillRect l="-559" t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67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A01C-362E-352B-AE6D-A4143448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3341B65-A3F7-7CE1-221B-C98B7ABC5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07" y="4250672"/>
            <a:ext cx="4717393" cy="25280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1F43137-7D68-AF2D-930E-935F231E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30" y="1241211"/>
            <a:ext cx="4805070" cy="2558095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ECB96DAD-F29A-B832-84DE-AE6BBC33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Performance Analysis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F9A7A1-C0CB-8BA9-5EA1-4C24B62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제목 6">
                <a:extLst>
                  <a:ext uri="{FF2B5EF4-FFF2-40B4-BE49-F238E27FC236}">
                    <a16:creationId xmlns:a16="http://schemas.microsoft.com/office/drawing/2014/main" id="{EEC7C5E5-F093-6F3D-009A-4B88FBBA0C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5879" y="883890"/>
                <a:ext cx="4805070" cy="475010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fontScale="97500"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  <m:t>𝒄𝒎𝒅</m:t>
                            </m:r>
                          </m:sub>
                        </m:s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𝟖𝟎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𝒅𝒆𝒈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ko-KR" sz="1600" b="1" dirty="0"/>
                          <m:t> </m:t>
                        </m:r>
                        <m:r>
                          <m:rPr>
                            <m:nor/>
                          </m:rPr>
                          <a:rPr lang="en-US" altLang="ko-KR" sz="1600" b="1" i="0" dirty="0" smtClean="0"/>
                          <m:t>, 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𝟑𝟖</m:t>
                    </m:r>
                    <m:f>
                      <m:f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𝒓𝒂𝒅</m:t>
                        </m:r>
                      </m:num>
                      <m:den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den>
                    </m:f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𝜻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𝟕𝟎𝟕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b="1" dirty="0">
                  <a:latin typeface="+mn-lt"/>
                </a:endParaRPr>
              </a:p>
              <a:p>
                <a:pPr lvl="1"/>
                <a:endParaRPr lang="en-US" altLang="ko-KR" sz="1600" dirty="0">
                  <a:latin typeface="+mn-lt"/>
                </a:endParaRPr>
              </a:p>
              <a:p>
                <a:pPr marL="628650" lvl="1" indent="-171450">
                  <a:buFontTx/>
                  <a:buChar char="-"/>
                </a:pPr>
                <a:endParaRPr lang="ko-KR" altLang="en-US" sz="1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6" name="제목 6">
                <a:extLst>
                  <a:ext uri="{FF2B5EF4-FFF2-40B4-BE49-F238E27FC236}">
                    <a16:creationId xmlns:a16="http://schemas.microsoft.com/office/drawing/2014/main" id="{EEC7C5E5-F093-6F3D-009A-4B88FBBA0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79" y="883890"/>
                <a:ext cx="4805070" cy="475010"/>
              </a:xfrm>
              <a:prstGeom prst="rect">
                <a:avLst/>
              </a:prstGeom>
              <a:blipFill>
                <a:blip r:embed="rId5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제목 6">
                <a:extLst>
                  <a:ext uri="{FF2B5EF4-FFF2-40B4-BE49-F238E27FC236}">
                    <a16:creationId xmlns:a16="http://schemas.microsoft.com/office/drawing/2014/main" id="{21BDD11F-4D27-CFC3-E911-0DCF5607F6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5878" y="3831326"/>
                <a:ext cx="4805071" cy="475010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fontScale="97500"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𝒄𝒎𝒅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𝒅𝒆𝒈</m:t>
                        </m:r>
                      </m:e>
                    </m:d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𝟑𝟖</m:t>
                    </m:r>
                    <m:f>
                      <m:f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𝒓𝒂𝒅</m:t>
                        </m:r>
                      </m:num>
                      <m:den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den>
                    </m:f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𝜻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𝟕𝟎𝟕</m:t>
                    </m:r>
                  </m:oMath>
                </a14:m>
                <a:endParaRPr lang="en-US" altLang="ko-KR" sz="1600" b="1" dirty="0">
                  <a:latin typeface="+mn-lt"/>
                </a:endParaRPr>
              </a:p>
              <a:p>
                <a:pPr lvl="1"/>
                <a:endParaRPr lang="en-US" altLang="ko-KR" sz="1600" dirty="0">
                  <a:latin typeface="+mn-lt"/>
                </a:endParaRPr>
              </a:p>
              <a:p>
                <a:pPr marL="628650" lvl="1" indent="-171450">
                  <a:buFontTx/>
                  <a:buChar char="-"/>
                </a:pPr>
                <a:endParaRPr lang="ko-KR" altLang="en-US" sz="1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제목 6">
                <a:extLst>
                  <a:ext uri="{FF2B5EF4-FFF2-40B4-BE49-F238E27FC236}">
                    <a16:creationId xmlns:a16="http://schemas.microsoft.com/office/drawing/2014/main" id="{21BDD11F-4D27-CFC3-E911-0DCF5607F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78" y="3831326"/>
                <a:ext cx="4805071" cy="475010"/>
              </a:xfrm>
              <a:prstGeom prst="rect">
                <a:avLst/>
              </a:prstGeom>
              <a:blipFill>
                <a:blip r:embed="rId6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6F63D48-4544-C2DE-5C52-8BC6515EF5DD}"/>
                  </a:ext>
                </a:extLst>
              </p:cNvPr>
              <p:cNvSpPr/>
              <p:nvPr/>
            </p:nvSpPr>
            <p:spPr>
              <a:xfrm>
                <a:off x="3950382" y="1996441"/>
                <a:ext cx="5128308" cy="11785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=8.91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𝑟𝑎𝑑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×0.015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𝑠𝑒𝑐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8.6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𝑑𝑒𝑔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ko-KR" sz="1400" dirty="0"/>
                  <a:t>The </a:t>
                </a:r>
                <a:r>
                  <a:rPr lang="ko-KR" altLang="ko-KR" sz="1400" dirty="0" err="1"/>
                  <a:t>phase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margin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decreased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by</a:t>
                </a:r>
                <a:r>
                  <a:rPr lang="ko-KR" altLang="ko-KR" sz="1400" dirty="0"/>
                  <a:t> 8.6 </a:t>
                </a:r>
                <a:r>
                  <a:rPr lang="ko-KR" altLang="ko-KR" sz="1400" dirty="0" err="1"/>
                  <a:t>degrees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in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the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actual</a:t>
                </a:r>
                <a:r>
                  <a:rPr lang="ko-KR" altLang="ko-KR" sz="1400" dirty="0"/>
                  <a:t> </a:t>
                </a:r>
                <a:r>
                  <a:rPr lang="ko-KR" altLang="ko-KR" sz="1400" dirty="0" err="1"/>
                  <a:t>system</a:t>
                </a:r>
                <a:r>
                  <a:rPr lang="ko-KR" altLang="ko-KR" sz="1400" dirty="0"/>
                  <a:t>.</a:t>
                </a:r>
                <a:endParaRPr lang="en-US" altLang="ko-KR" sz="1400" dirty="0"/>
              </a:p>
              <a:p>
                <a:pPr algn="ctr"/>
                <a:endParaRPr lang="en-US" altLang="ko-KR" dirty="0"/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6F63D48-4544-C2DE-5C52-8BC6515EF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82" y="1996441"/>
                <a:ext cx="5128308" cy="11785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57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9732</TotalTime>
  <Words>262</Words>
  <Application>Microsoft Office PowerPoint</Application>
  <PresentationFormat>화면 슬라이드 쇼(4:3)</PresentationFormat>
  <Paragraphs>79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Designation</vt:lpstr>
      <vt:lpstr>Digital Control and Signal Processing Final Project</vt:lpstr>
      <vt:lpstr>1. Sensor Modeling / 2. Structure of Controller</vt:lpstr>
      <vt:lpstr>3. Model Design Method</vt:lpstr>
      <vt:lpstr>4. Design Model</vt:lpstr>
      <vt:lpstr>4. Analysis Model</vt:lpstr>
      <vt:lpstr>4. Performance Analysis</vt:lpstr>
      <vt:lpstr>4. Performance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88</cp:revision>
  <dcterms:created xsi:type="dcterms:W3CDTF">2022-06-23T13:17:03Z</dcterms:created>
  <dcterms:modified xsi:type="dcterms:W3CDTF">2026-06-03T13:54:05Z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